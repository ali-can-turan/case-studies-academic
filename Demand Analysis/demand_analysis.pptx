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71" r:id="rId13"/>
    <p:sldId id="268" r:id="rId14"/>
    <p:sldId id="273" r:id="rId15"/>
    <p:sldId id="269" r:id="rId16"/>
    <p:sldId id="272" r:id="rId17"/>
    <p:sldId id="274" r:id="rId18"/>
    <p:sldId id="275" r:id="rId19"/>
    <p:sldId id="277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elgelerim\New%20Life\Coursera\9.%20Supply%20Chain%20Analytics\Course_3\1.Seasonality-exampl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elgelerim\New%20Life\Coursera\9.%20Supply%20Chain%20Analytics\Course_3\1.Seasonality-exampl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Belgelerim\New%20Life\Coursera\9.%20Supply%20Chain%20Analytics\Course_3\1.Seasonality-example.xlsx" TargetMode="Externa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D:\Belgelerim\New%20Life\Coursera\9.%20Supply%20Chain%20Analytics\Course_3\1.Seasonality-exampl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tr-TR" sz="2000" dirty="0"/>
              <a:t>Train</a:t>
            </a:r>
            <a:r>
              <a:rPr lang="tr-TR" sz="2000" baseline="0" dirty="0"/>
              <a:t> Data– Train Data </a:t>
            </a:r>
            <a:r>
              <a:rPr lang="tr-TR" sz="2000" baseline="0" dirty="0" err="1"/>
              <a:t>Predictions</a:t>
            </a:r>
            <a:endParaRPr lang="en-US" sz="2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Seasonality!$Q$35</c:f>
              <c:strCache>
                <c:ptCount val="1"/>
                <c:pt idx="0">
                  <c:v>Predicted 10-Piece Set sold units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Seasonality!$Q$36:$Q$59</c:f>
              <c:numCache>
                <c:formatCode>General</c:formatCode>
                <c:ptCount val="24"/>
                <c:pt idx="0">
                  <c:v>222.9353932584263</c:v>
                </c:pt>
                <c:pt idx="1">
                  <c:v>347.01123595505607</c:v>
                </c:pt>
                <c:pt idx="2">
                  <c:v>361.01123595505555</c:v>
                </c:pt>
                <c:pt idx="3">
                  <c:v>405.01123595505612</c:v>
                </c:pt>
                <c:pt idx="4">
                  <c:v>287.01123595505572</c:v>
                </c:pt>
                <c:pt idx="5">
                  <c:v>136.01123595505626</c:v>
                </c:pt>
                <c:pt idx="6">
                  <c:v>226.51123595505589</c:v>
                </c:pt>
                <c:pt idx="7">
                  <c:v>340.0112359550555</c:v>
                </c:pt>
                <c:pt idx="8">
                  <c:v>347.58707865168526</c:v>
                </c:pt>
                <c:pt idx="9">
                  <c:v>622.49999999999932</c:v>
                </c:pt>
                <c:pt idx="10">
                  <c:v>702.99999999999989</c:v>
                </c:pt>
                <c:pt idx="11">
                  <c:v>338.49999999999955</c:v>
                </c:pt>
                <c:pt idx="12">
                  <c:v>409.91292134831474</c:v>
                </c:pt>
                <c:pt idx="13">
                  <c:v>533.98876404494354</c:v>
                </c:pt>
                <c:pt idx="14">
                  <c:v>547.98876404494308</c:v>
                </c:pt>
                <c:pt idx="15">
                  <c:v>591.98876404494365</c:v>
                </c:pt>
                <c:pt idx="16">
                  <c:v>473.98876404494325</c:v>
                </c:pt>
                <c:pt idx="17">
                  <c:v>322.98876404494376</c:v>
                </c:pt>
                <c:pt idx="18">
                  <c:v>413.48876404494342</c:v>
                </c:pt>
                <c:pt idx="19">
                  <c:v>526.98876404494399</c:v>
                </c:pt>
                <c:pt idx="20">
                  <c:v>534.56460674157279</c:v>
                </c:pt>
                <c:pt idx="21">
                  <c:v>1543.4999999999993</c:v>
                </c:pt>
                <c:pt idx="22">
                  <c:v>1624</c:v>
                </c:pt>
                <c:pt idx="23">
                  <c:v>1259.4999999999995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5E-4996-9D04-D7F825A3FF23}"/>
            </c:ext>
          </c:extLst>
        </c:ser>
        <c:ser>
          <c:idx val="1"/>
          <c:order val="1"/>
          <c:tx>
            <c:strRef>
              <c:f>Seasonality!$B$1</c:f>
              <c:strCache>
                <c:ptCount val="1"/>
                <c:pt idx="0">
                  <c:v>10-Piece Set sold units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val>
            <c:numRef>
              <c:f>Seasonality!$B$2:$B$25</c:f>
              <c:numCache>
                <c:formatCode>#,##0;\-#,##0;#,##0;@</c:formatCode>
                <c:ptCount val="24"/>
                <c:pt idx="0">
                  <c:v>219</c:v>
                </c:pt>
                <c:pt idx="1">
                  <c:v>175</c:v>
                </c:pt>
                <c:pt idx="2">
                  <c:v>306</c:v>
                </c:pt>
                <c:pt idx="3">
                  <c:v>394</c:v>
                </c:pt>
                <c:pt idx="4">
                  <c:v>394</c:v>
                </c:pt>
                <c:pt idx="5">
                  <c:v>131</c:v>
                </c:pt>
                <c:pt idx="6">
                  <c:v>131</c:v>
                </c:pt>
                <c:pt idx="7">
                  <c:v>438</c:v>
                </c:pt>
                <c:pt idx="8">
                  <c:v>525</c:v>
                </c:pt>
                <c:pt idx="9">
                  <c:v>613</c:v>
                </c:pt>
                <c:pt idx="10">
                  <c:v>657</c:v>
                </c:pt>
                <c:pt idx="11">
                  <c:v>394</c:v>
                </c:pt>
                <c:pt idx="12">
                  <c:v>354</c:v>
                </c:pt>
                <c:pt idx="13">
                  <c:v>706</c:v>
                </c:pt>
                <c:pt idx="14">
                  <c:v>603</c:v>
                </c:pt>
                <c:pt idx="15">
                  <c:v>603</c:v>
                </c:pt>
                <c:pt idx="16">
                  <c:v>367</c:v>
                </c:pt>
                <c:pt idx="17">
                  <c:v>328</c:v>
                </c:pt>
                <c:pt idx="18">
                  <c:v>509</c:v>
                </c:pt>
                <c:pt idx="19">
                  <c:v>429</c:v>
                </c:pt>
                <c:pt idx="20">
                  <c:v>417</c:v>
                </c:pt>
                <c:pt idx="21">
                  <c:v>1553</c:v>
                </c:pt>
                <c:pt idx="22">
                  <c:v>1670</c:v>
                </c:pt>
                <c:pt idx="23">
                  <c:v>1204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5E-4996-9D04-D7F825A3FF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63766672"/>
        <c:axId val="1710381312"/>
      </c:barChart>
      <c:catAx>
        <c:axId val="16637666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tr-TR" sz="1600"/>
                  <a:t>Months</a:t>
                </a:r>
                <a:endParaRPr lang="en-US" sz="16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0381312"/>
        <c:crosses val="autoZero"/>
        <c:auto val="1"/>
        <c:lblAlgn val="ctr"/>
        <c:lblOffset val="100"/>
        <c:noMultiLvlLbl val="0"/>
      </c:catAx>
      <c:valAx>
        <c:axId val="1710381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tr-TR" sz="1600"/>
                  <a:t>Demand</a:t>
                </a:r>
                <a:endParaRPr lang="en-US" sz="16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37666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tr-TR" sz="2000" b="0" i="0" u="none" strike="noStrike" kern="1200" spc="0" baseline="0" dirty="0">
                <a:solidFill>
                  <a:prstClr val="white">
                    <a:lumMod val="65000"/>
                    <a:lumOff val="35000"/>
                  </a:prstClr>
                </a:solidFill>
              </a:rPr>
              <a:t>Train Data– Train Data </a:t>
            </a:r>
            <a:r>
              <a:rPr lang="tr-TR" sz="2000" b="0" i="0" u="none" strike="noStrike" kern="1200" spc="0" baseline="0" dirty="0" err="1">
                <a:solidFill>
                  <a:prstClr val="white">
                    <a:lumMod val="65000"/>
                    <a:lumOff val="35000"/>
                  </a:prstClr>
                </a:solidFill>
              </a:rPr>
              <a:t>Predictions</a:t>
            </a:r>
            <a:endParaRPr lang="en-US" sz="2000" b="0" i="0" u="none" strike="noStrike" kern="1200" spc="0" baseline="0" dirty="0">
              <a:solidFill>
                <a:prstClr val="white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1"/>
          <c:order val="1"/>
          <c:tx>
            <c:v>Predicted 10-Piece Set sold units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70C0"/>
                </a:solidFill>
              </a:ln>
              <a:effectLst/>
            </c:spPr>
          </c:marker>
          <c:xVal>
            <c:numRef>
              <c:f>Seasonality!$B$2:$B$25</c:f>
              <c:numCache>
                <c:formatCode>#,##0;\-#,##0;#,##0;@</c:formatCode>
                <c:ptCount val="24"/>
                <c:pt idx="0">
                  <c:v>219</c:v>
                </c:pt>
                <c:pt idx="1">
                  <c:v>175</c:v>
                </c:pt>
                <c:pt idx="2">
                  <c:v>306</c:v>
                </c:pt>
                <c:pt idx="3">
                  <c:v>394</c:v>
                </c:pt>
                <c:pt idx="4">
                  <c:v>394</c:v>
                </c:pt>
                <c:pt idx="5">
                  <c:v>131</c:v>
                </c:pt>
                <c:pt idx="6">
                  <c:v>131</c:v>
                </c:pt>
                <c:pt idx="7">
                  <c:v>438</c:v>
                </c:pt>
                <c:pt idx="8">
                  <c:v>525</c:v>
                </c:pt>
                <c:pt idx="9">
                  <c:v>613</c:v>
                </c:pt>
                <c:pt idx="10">
                  <c:v>657</c:v>
                </c:pt>
                <c:pt idx="11">
                  <c:v>394</c:v>
                </c:pt>
                <c:pt idx="12">
                  <c:v>354</c:v>
                </c:pt>
                <c:pt idx="13">
                  <c:v>706</c:v>
                </c:pt>
                <c:pt idx="14">
                  <c:v>603</c:v>
                </c:pt>
                <c:pt idx="15">
                  <c:v>603</c:v>
                </c:pt>
                <c:pt idx="16">
                  <c:v>367</c:v>
                </c:pt>
                <c:pt idx="17">
                  <c:v>328</c:v>
                </c:pt>
                <c:pt idx="18">
                  <c:v>509</c:v>
                </c:pt>
                <c:pt idx="19">
                  <c:v>429</c:v>
                </c:pt>
                <c:pt idx="20">
                  <c:v>417</c:v>
                </c:pt>
                <c:pt idx="21">
                  <c:v>1553</c:v>
                </c:pt>
                <c:pt idx="22">
                  <c:v>1670</c:v>
                </c:pt>
                <c:pt idx="23">
                  <c:v>1204</c:v>
                </c:pt>
              </c:numCache>
            </c:numRef>
          </c:xVal>
          <c:yVal>
            <c:numRef>
              <c:f>Seasonality!$Q$36:$Q$59</c:f>
              <c:numCache>
                <c:formatCode>General</c:formatCode>
                <c:ptCount val="24"/>
                <c:pt idx="0">
                  <c:v>222.9353932584263</c:v>
                </c:pt>
                <c:pt idx="1">
                  <c:v>347.01123595505607</c:v>
                </c:pt>
                <c:pt idx="2">
                  <c:v>361.01123595505555</c:v>
                </c:pt>
                <c:pt idx="3">
                  <c:v>405.01123595505612</c:v>
                </c:pt>
                <c:pt idx="4">
                  <c:v>287.01123595505572</c:v>
                </c:pt>
                <c:pt idx="5">
                  <c:v>136.01123595505626</c:v>
                </c:pt>
                <c:pt idx="6">
                  <c:v>226.51123595505589</c:v>
                </c:pt>
                <c:pt idx="7">
                  <c:v>340.0112359550555</c:v>
                </c:pt>
                <c:pt idx="8">
                  <c:v>347.58707865168526</c:v>
                </c:pt>
                <c:pt idx="9">
                  <c:v>622.49999999999932</c:v>
                </c:pt>
                <c:pt idx="10">
                  <c:v>702.99999999999989</c:v>
                </c:pt>
                <c:pt idx="11">
                  <c:v>338.49999999999955</c:v>
                </c:pt>
                <c:pt idx="12">
                  <c:v>409.91292134831474</c:v>
                </c:pt>
                <c:pt idx="13">
                  <c:v>533.98876404494354</c:v>
                </c:pt>
                <c:pt idx="14">
                  <c:v>547.98876404494308</c:v>
                </c:pt>
                <c:pt idx="15">
                  <c:v>591.98876404494365</c:v>
                </c:pt>
                <c:pt idx="16">
                  <c:v>473.98876404494325</c:v>
                </c:pt>
                <c:pt idx="17">
                  <c:v>322.98876404494376</c:v>
                </c:pt>
                <c:pt idx="18">
                  <c:v>413.48876404494342</c:v>
                </c:pt>
                <c:pt idx="19">
                  <c:v>526.98876404494399</c:v>
                </c:pt>
                <c:pt idx="20">
                  <c:v>534.56460674157279</c:v>
                </c:pt>
                <c:pt idx="21">
                  <c:v>1543.4999999999993</c:v>
                </c:pt>
                <c:pt idx="22">
                  <c:v>1624</c:v>
                </c:pt>
                <c:pt idx="23">
                  <c:v>1259.4999999999995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52B-435A-8BC0-90F8DF6F94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90351696"/>
        <c:axId val="1556707680"/>
      </c:scatterChart>
      <c:scatterChart>
        <c:scatterStyle val="smoothMarker"/>
        <c:varyColors val="0"/>
        <c:ser>
          <c:idx val="0"/>
          <c:order val="0"/>
          <c:tx>
            <c:v>10-Piece Set sold units</c:v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Seasonality!$B$2:$B$25</c:f>
              <c:numCache>
                <c:formatCode>#,##0;\-#,##0;#,##0;@</c:formatCode>
                <c:ptCount val="24"/>
                <c:pt idx="0">
                  <c:v>219</c:v>
                </c:pt>
                <c:pt idx="1">
                  <c:v>175</c:v>
                </c:pt>
                <c:pt idx="2">
                  <c:v>306</c:v>
                </c:pt>
                <c:pt idx="3">
                  <c:v>394</c:v>
                </c:pt>
                <c:pt idx="4">
                  <c:v>394</c:v>
                </c:pt>
                <c:pt idx="5">
                  <c:v>131</c:v>
                </c:pt>
                <c:pt idx="6">
                  <c:v>131</c:v>
                </c:pt>
                <c:pt idx="7">
                  <c:v>438</c:v>
                </c:pt>
                <c:pt idx="8">
                  <c:v>525</c:v>
                </c:pt>
                <c:pt idx="9">
                  <c:v>613</c:v>
                </c:pt>
                <c:pt idx="10">
                  <c:v>657</c:v>
                </c:pt>
                <c:pt idx="11">
                  <c:v>394</c:v>
                </c:pt>
                <c:pt idx="12">
                  <c:v>354</c:v>
                </c:pt>
                <c:pt idx="13">
                  <c:v>706</c:v>
                </c:pt>
                <c:pt idx="14">
                  <c:v>603</c:v>
                </c:pt>
                <c:pt idx="15">
                  <c:v>603</c:v>
                </c:pt>
                <c:pt idx="16">
                  <c:v>367</c:v>
                </c:pt>
                <c:pt idx="17">
                  <c:v>328</c:v>
                </c:pt>
                <c:pt idx="18">
                  <c:v>509</c:v>
                </c:pt>
                <c:pt idx="19">
                  <c:v>429</c:v>
                </c:pt>
                <c:pt idx="20">
                  <c:v>417</c:v>
                </c:pt>
                <c:pt idx="21">
                  <c:v>1553</c:v>
                </c:pt>
                <c:pt idx="22">
                  <c:v>1670</c:v>
                </c:pt>
                <c:pt idx="23">
                  <c:v>1204</c:v>
                </c:pt>
              </c:numCache>
            </c:numRef>
          </c:xVal>
          <c:yVal>
            <c:numRef>
              <c:f>Seasonality!$B$2:$B$25</c:f>
              <c:numCache>
                <c:formatCode>#,##0;\-#,##0;#,##0;@</c:formatCode>
                <c:ptCount val="24"/>
                <c:pt idx="0">
                  <c:v>219</c:v>
                </c:pt>
                <c:pt idx="1">
                  <c:v>175</c:v>
                </c:pt>
                <c:pt idx="2">
                  <c:v>306</c:v>
                </c:pt>
                <c:pt idx="3">
                  <c:v>394</c:v>
                </c:pt>
                <c:pt idx="4">
                  <c:v>394</c:v>
                </c:pt>
                <c:pt idx="5">
                  <c:v>131</c:v>
                </c:pt>
                <c:pt idx="6">
                  <c:v>131</c:v>
                </c:pt>
                <c:pt idx="7">
                  <c:v>438</c:v>
                </c:pt>
                <c:pt idx="8">
                  <c:v>525</c:v>
                </c:pt>
                <c:pt idx="9">
                  <c:v>613</c:v>
                </c:pt>
                <c:pt idx="10">
                  <c:v>657</c:v>
                </c:pt>
                <c:pt idx="11">
                  <c:v>394</c:v>
                </c:pt>
                <c:pt idx="12">
                  <c:v>354</c:v>
                </c:pt>
                <c:pt idx="13">
                  <c:v>706</c:v>
                </c:pt>
                <c:pt idx="14">
                  <c:v>603</c:v>
                </c:pt>
                <c:pt idx="15">
                  <c:v>603</c:v>
                </c:pt>
                <c:pt idx="16">
                  <c:v>367</c:v>
                </c:pt>
                <c:pt idx="17">
                  <c:v>328</c:v>
                </c:pt>
                <c:pt idx="18">
                  <c:v>509</c:v>
                </c:pt>
                <c:pt idx="19">
                  <c:v>429</c:v>
                </c:pt>
                <c:pt idx="20">
                  <c:v>417</c:v>
                </c:pt>
                <c:pt idx="21">
                  <c:v>1553</c:v>
                </c:pt>
                <c:pt idx="22">
                  <c:v>1670</c:v>
                </c:pt>
                <c:pt idx="23">
                  <c:v>1204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152B-435A-8BC0-90F8DF6F94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90351696"/>
        <c:axId val="1556707680"/>
      </c:scatterChart>
      <c:valAx>
        <c:axId val="16903516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tr-TR" sz="1600" dirty="0" err="1"/>
                  <a:t>Demand</a:t>
                </a:r>
                <a:endParaRPr lang="en-US" sz="16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;\-#,##0;#,##0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6707680"/>
        <c:crosses val="autoZero"/>
        <c:crossBetween val="midCat"/>
      </c:valAx>
      <c:valAx>
        <c:axId val="1556707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tr-TR" sz="1600" dirty="0" err="1"/>
                  <a:t>Pred</a:t>
                </a:r>
                <a:r>
                  <a:rPr lang="tr-TR" sz="1600" dirty="0"/>
                  <a:t> </a:t>
                </a:r>
                <a:r>
                  <a:rPr lang="tr-TR" sz="1600" dirty="0" err="1"/>
                  <a:t>Demand</a:t>
                </a:r>
                <a:endParaRPr lang="en-US" sz="1600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035169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Time in month  Residual Plot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xVal>
            <c:numRef>
              <c:f>Seasonality!$C$2:$C$25</c:f>
              <c:numCache>
                <c:formatCode>0</c:formatCod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numCache>
            </c:numRef>
          </c:xVal>
          <c:yVal>
            <c:numRef>
              <c:f>Seasonality!$R$36:$R$59</c:f>
              <c:numCache>
                <c:formatCode>General</c:formatCode>
                <c:ptCount val="24"/>
                <c:pt idx="0">
                  <c:v>-3.9353932584263021</c:v>
                </c:pt>
                <c:pt idx="1">
                  <c:v>-172.01123595505607</c:v>
                </c:pt>
                <c:pt idx="2">
                  <c:v>-55.011235955055554</c:v>
                </c:pt>
                <c:pt idx="3">
                  <c:v>-11.011235955056122</c:v>
                </c:pt>
                <c:pt idx="4">
                  <c:v>106.98876404494428</c:v>
                </c:pt>
                <c:pt idx="5">
                  <c:v>-5.0112359550562644</c:v>
                </c:pt>
                <c:pt idx="6">
                  <c:v>-95.511235955055895</c:v>
                </c:pt>
                <c:pt idx="7">
                  <c:v>97.988764044944503</c:v>
                </c:pt>
                <c:pt idx="8">
                  <c:v>177.41292134831474</c:v>
                </c:pt>
                <c:pt idx="9">
                  <c:v>-9.4999999999993179</c:v>
                </c:pt>
                <c:pt idx="10">
                  <c:v>-45.999999999999886</c:v>
                </c:pt>
                <c:pt idx="11">
                  <c:v>55.500000000000455</c:v>
                </c:pt>
                <c:pt idx="12">
                  <c:v>-55.91292134831474</c:v>
                </c:pt>
                <c:pt idx="13">
                  <c:v>172.01123595505646</c:v>
                </c:pt>
                <c:pt idx="14">
                  <c:v>55.011235955056918</c:v>
                </c:pt>
                <c:pt idx="15">
                  <c:v>11.01123595505635</c:v>
                </c:pt>
                <c:pt idx="16">
                  <c:v>-106.98876404494325</c:v>
                </c:pt>
                <c:pt idx="17">
                  <c:v>5.011235955056236</c:v>
                </c:pt>
                <c:pt idx="18">
                  <c:v>95.511235955056577</c:v>
                </c:pt>
                <c:pt idx="19">
                  <c:v>-97.988764044943991</c:v>
                </c:pt>
                <c:pt idx="20">
                  <c:v>-117.56460674157279</c:v>
                </c:pt>
                <c:pt idx="21">
                  <c:v>9.5000000000006821</c:v>
                </c:pt>
                <c:pt idx="22">
                  <c:v>46</c:v>
                </c:pt>
                <c:pt idx="23">
                  <c:v>-55.499999999999545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161-4627-8A86-060B30BEAD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63734192"/>
        <c:axId val="1710344832"/>
      </c:scatterChart>
      <c:valAx>
        <c:axId val="16637341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Time in month</a:t>
                </a:r>
              </a:p>
            </c:rich>
          </c:tx>
          <c:overlay val="0"/>
        </c:title>
        <c:numFmt formatCode="0" sourceLinked="1"/>
        <c:majorTickMark val="out"/>
        <c:minorTickMark val="none"/>
        <c:tickLblPos val="nextTo"/>
        <c:crossAx val="1710344832"/>
        <c:crosses val="autoZero"/>
        <c:crossBetween val="midCat"/>
      </c:valAx>
      <c:valAx>
        <c:axId val="171034483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Residuals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663734192"/>
        <c:crosses val="autoZero"/>
        <c:crossBetween val="midCat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ln>
      <a:solidFill>
        <a:schemeClr val="accent1"/>
      </a:solidFill>
    </a:ln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Seasonality!$R$36:$R$59</cx:f>
        <cx:lvl ptCount="24" formatCode="General">
          <cx:pt idx="0">-3.9353932584263021</cx:pt>
          <cx:pt idx="1">-172.01123595505607</cx:pt>
          <cx:pt idx="2">-55.011235955055554</cx:pt>
          <cx:pt idx="3">-11.011235955056122</cx:pt>
          <cx:pt idx="4">106.98876404494428</cx:pt>
          <cx:pt idx="5">-5.0112359550562644</cx:pt>
          <cx:pt idx="6">-95.511235955055895</cx:pt>
          <cx:pt idx="7">97.988764044944503</cx:pt>
          <cx:pt idx="8">177.41292134831474</cx:pt>
          <cx:pt idx="9">-9.4999999999993179</cx:pt>
          <cx:pt idx="10">-45.999999999999886</cx:pt>
          <cx:pt idx="11">55.500000000000455</cx:pt>
          <cx:pt idx="12">-55.91292134831474</cx:pt>
          <cx:pt idx="13">172.01123595505646</cx:pt>
          <cx:pt idx="14">55.011235955056918</cx:pt>
          <cx:pt idx="15">11.01123595505635</cx:pt>
          <cx:pt idx="16">-106.98876404494325</cx:pt>
          <cx:pt idx="17">5.011235955056236</cx:pt>
          <cx:pt idx="18">95.511235955056577</cx:pt>
          <cx:pt idx="19">-97.988764044943991</cx:pt>
          <cx:pt idx="20">-117.56460674157279</cx:pt>
          <cx:pt idx="21">9.5000000000006821</cx:pt>
          <cx:pt idx="22">46</cx:pt>
          <cx:pt idx="23">-55.499999999999545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 sz="1800">
                <a:solidFill>
                  <a:schemeClr val="tx1"/>
                </a:solidFill>
              </a:defRPr>
            </a:pPr>
            <a:r>
              <a:rPr lang="tr-TR" sz="1800" b="0" i="0" u="none" strike="noStrike" baseline="0" dirty="0" err="1">
                <a:solidFill>
                  <a:schemeClr val="tx1"/>
                </a:solidFill>
                <a:latin typeface="IBM Plex Mono" panose="020B0509050203000203" pitchFamily="49" charset="0"/>
              </a:rPr>
              <a:t>Residuals</a:t>
            </a:r>
            <a:r>
              <a:rPr lang="tr-TR" sz="1800" b="0" i="0" u="none" strike="noStrike" baseline="0" dirty="0">
                <a:solidFill>
                  <a:schemeClr val="tx1"/>
                </a:solidFill>
                <a:latin typeface="IBM Plex Mono" panose="020B0509050203000203" pitchFamily="49" charset="0"/>
              </a:rPr>
              <a:t> Distribution </a:t>
            </a:r>
            <a:endParaRPr lang="en-US" sz="1800" b="0" i="0" u="none" strike="noStrike" baseline="0" dirty="0">
              <a:solidFill>
                <a:schemeClr val="tx1"/>
              </a:solidFill>
              <a:latin typeface="IBM Plex Mono" panose="020B0509050203000203" pitchFamily="49" charset="0"/>
            </a:endParaRPr>
          </a:p>
        </cx:rich>
      </cx:tx>
    </cx:title>
    <cx:plotArea>
      <cx:plotAreaRegion>
        <cx:series layoutId="clusteredColumn" uniqueId="{00000000-4AB1-473E-9624-B4B55E3C6FE5}">
          <cx:dataId val="0"/>
          <cx:layoutPr>
            <cx:binning intervalClosed="r">
              <cx:binCount val="5"/>
            </cx:binning>
          </cx:layoutPr>
        </cx:series>
      </cx:plotAreaRegion>
      <cx:axis id="0">
        <cx:catScaling gapWidth="0.159999996"/>
        <cx:title>
          <cx:tx>
            <cx:rich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000">
                    <a:solidFill>
                      <a:schemeClr val="tx1"/>
                    </a:solidFill>
                  </a:defRPr>
                </a:pPr>
                <a:r>
                  <a:rPr lang="tr-TR" sz="1000" b="0" i="0" u="none" strike="noStrike" baseline="0" dirty="0" err="1">
                    <a:solidFill>
                      <a:schemeClr val="tx1"/>
                    </a:solidFill>
                    <a:latin typeface="IBM Plex Mono" panose="020B0509050203000203" pitchFamily="49" charset="0"/>
                  </a:rPr>
                  <a:t>Residuals</a:t>
                </a:r>
                <a:endParaRPr lang="en-US" sz="1000" b="0" i="0" u="none" strike="noStrike" baseline="0" dirty="0">
                  <a:solidFill>
                    <a:schemeClr val="tx1"/>
                  </a:solidFill>
                  <a:latin typeface="IBM Plex Mono" panose="020B0509050203000203" pitchFamily="49" charset="0"/>
                </a:endParaRPr>
              </a:p>
            </cx:rich>
          </cx:tx>
        </cx:title>
        <cx:tickLabels/>
        <cx:numFmt formatCode="#,##0" sourceLinked="0"/>
      </cx:axis>
      <cx:axis id="1">
        <cx:valScaling/>
        <cx:title>
          <cx:tx>
            <cx:rich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000">
                    <a:solidFill>
                      <a:schemeClr val="tx1"/>
                    </a:solidFill>
                  </a:defRPr>
                </a:pPr>
                <a:r>
                  <a:rPr lang="tr-TR" sz="1000" b="0" i="0" u="none" strike="noStrike" baseline="0" dirty="0" err="1">
                    <a:solidFill>
                      <a:schemeClr val="tx1"/>
                    </a:solidFill>
                    <a:latin typeface="IBM Plex Mono" panose="020B0509050203000203" pitchFamily="49" charset="0"/>
                  </a:rPr>
                  <a:t>Count</a:t>
                </a:r>
                <a:endParaRPr lang="en-US" sz="1000" b="0" i="0" u="none" strike="noStrike" baseline="0" dirty="0">
                  <a:solidFill>
                    <a:schemeClr val="tx1"/>
                  </a:solidFill>
                  <a:latin typeface="IBM Plex Mono" panose="020B0509050203000203" pitchFamily="49" charset="0"/>
                </a:endParaRPr>
              </a:p>
            </cx:rich>
          </cx:tx>
        </cx:title>
        <cx:majorGridlines>
          <cx:spPr>
            <a:ln>
              <a:noFill/>
            </a:ln>
          </cx:spPr>
        </cx:majorGridlines>
        <cx:tickLabels/>
      </cx:axis>
    </cx:plotArea>
  </cx:chart>
  <cx:spPr>
    <a:ln>
      <a:solidFill>
        <a:srgbClr val="FF0000">
          <a:alpha val="93000"/>
        </a:srgbClr>
      </a:solidFill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BM Plex Mono" panose="020B0509050203000203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BM Plex Mono" panose="020B0509050203000203" pitchFamily="49" charset="0"/>
              </a:defRPr>
            </a:lvl1pPr>
          </a:lstStyle>
          <a:p>
            <a:fld id="{8A2ACE49-A37C-4F52-93B0-54F672CBFBE3}" type="datetimeFigureOut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BM Plex Mono" panose="020B0509050203000203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BM Plex Mono" panose="020B0509050203000203" pitchFamily="49" charset="0"/>
              </a:defRPr>
            </a:lvl1pPr>
          </a:lstStyle>
          <a:p>
            <a:fld id="{20DDAE1F-1347-4A60-85DC-040D343531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679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IBM Plex Mono" panose="020B0509050203000203" pitchFamily="49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>
                <a:latin typeface="IBM Plex Mono" panose="020B05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  <a:latin typeface="IBM Plex Mono" panose="020B0509050203000203" pitchFamily="49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F036FD9F-7893-442C-AE37-0D519DAFD9AA}" type="datetime1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  <a:lvl2pPr>
              <a:defRPr>
                <a:latin typeface="IBM Plex Mono" panose="020B0509050203000203" pitchFamily="49" charset="0"/>
              </a:defRPr>
            </a:lvl2pPr>
            <a:lvl3pPr>
              <a:defRPr>
                <a:latin typeface="IBM Plex Mono" panose="020B0509050203000203" pitchFamily="49" charset="0"/>
              </a:defRPr>
            </a:lvl3pPr>
            <a:lvl4pPr>
              <a:defRPr>
                <a:latin typeface="IBM Plex Mono" panose="020B0509050203000203" pitchFamily="49" charset="0"/>
              </a:defRPr>
            </a:lvl4pPr>
            <a:lvl5pPr>
              <a:defRPr>
                <a:latin typeface="IBM Plex Mono" panose="020B0509050203000203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29E132C2-0F46-4BD4-91EB-465A7A1BB26A}" type="datetime1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>
                <a:latin typeface="IBM Plex Mono" panose="020B05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  <a:latin typeface="IBM Plex Mono" panose="020B0509050203000203" pitchFamily="49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A6659314-4E2B-4D47-88D0-BC38307AFC2B}" type="datetime1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>
                <a:latin typeface="IBM Plex Mono" panose="020B0509050203000203" pitchFamily="49" charset="0"/>
              </a:defRPr>
            </a:lvl1pPr>
            <a:lvl2pPr>
              <a:defRPr sz="1600">
                <a:latin typeface="IBM Plex Mono" panose="020B0509050203000203" pitchFamily="49" charset="0"/>
              </a:defRPr>
            </a:lvl2pPr>
            <a:lvl3pPr>
              <a:defRPr sz="1400">
                <a:latin typeface="IBM Plex Mono" panose="020B0509050203000203" pitchFamily="49" charset="0"/>
              </a:defRPr>
            </a:lvl3pPr>
            <a:lvl4pPr>
              <a:defRPr sz="1200">
                <a:latin typeface="IBM Plex Mono" panose="020B0509050203000203" pitchFamily="49" charset="0"/>
              </a:defRPr>
            </a:lvl4pPr>
            <a:lvl5pPr>
              <a:defRPr sz="1200">
                <a:latin typeface="IBM Plex Mono" panose="020B0509050203000203" pitchFamily="49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>
                <a:latin typeface="IBM Plex Mono" panose="020B0509050203000203" pitchFamily="49" charset="0"/>
              </a:defRPr>
            </a:lvl1pPr>
            <a:lvl2pPr>
              <a:defRPr sz="1600">
                <a:latin typeface="IBM Plex Mono" panose="020B0509050203000203" pitchFamily="49" charset="0"/>
              </a:defRPr>
            </a:lvl2pPr>
            <a:lvl3pPr>
              <a:defRPr sz="1400">
                <a:latin typeface="IBM Plex Mono" panose="020B0509050203000203" pitchFamily="49" charset="0"/>
              </a:defRPr>
            </a:lvl3pPr>
            <a:lvl4pPr>
              <a:defRPr sz="1200">
                <a:latin typeface="IBM Plex Mono" panose="020B0509050203000203" pitchFamily="49" charset="0"/>
              </a:defRPr>
            </a:lvl4pPr>
            <a:lvl5pPr>
              <a:defRPr sz="1200">
                <a:latin typeface="IBM Plex Mono" panose="020B0509050203000203" pitchFamily="49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B961C9F5-75E0-4DB2-AF01-8713326B2D43}" type="datetime1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  <a:latin typeface="IBM Plex Mono" panose="020B0509050203000203" pitchFamily="49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>
                <a:latin typeface="IBM Plex Mono" panose="020B0509050203000203" pitchFamily="49" charset="0"/>
              </a:defRPr>
            </a:lvl1pPr>
            <a:lvl2pPr>
              <a:defRPr sz="1600">
                <a:latin typeface="IBM Plex Mono" panose="020B0509050203000203" pitchFamily="49" charset="0"/>
              </a:defRPr>
            </a:lvl2pPr>
            <a:lvl3pPr>
              <a:defRPr sz="1400">
                <a:latin typeface="IBM Plex Mono" panose="020B0509050203000203" pitchFamily="49" charset="0"/>
              </a:defRPr>
            </a:lvl3pPr>
            <a:lvl4pPr>
              <a:defRPr sz="1200">
                <a:latin typeface="IBM Plex Mono" panose="020B0509050203000203" pitchFamily="49" charset="0"/>
              </a:defRPr>
            </a:lvl4pPr>
            <a:lvl5pPr>
              <a:defRPr sz="1200">
                <a:latin typeface="IBM Plex Mono" panose="020B0509050203000203" pitchFamily="49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  <a:latin typeface="IBM Plex Mono" panose="020B0509050203000203" pitchFamily="49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>
                <a:latin typeface="IBM Plex Mono" panose="020B0509050203000203" pitchFamily="49" charset="0"/>
              </a:defRPr>
            </a:lvl1pPr>
            <a:lvl2pPr>
              <a:defRPr sz="1600">
                <a:latin typeface="IBM Plex Mono" panose="020B0509050203000203" pitchFamily="49" charset="0"/>
              </a:defRPr>
            </a:lvl2pPr>
            <a:lvl3pPr>
              <a:defRPr sz="1400">
                <a:latin typeface="IBM Plex Mono" panose="020B0509050203000203" pitchFamily="49" charset="0"/>
              </a:defRPr>
            </a:lvl3pPr>
            <a:lvl4pPr>
              <a:defRPr sz="1200">
                <a:latin typeface="IBM Plex Mono" panose="020B0509050203000203" pitchFamily="49" charset="0"/>
              </a:defRPr>
            </a:lvl4pPr>
            <a:lvl5pPr>
              <a:defRPr sz="1200">
                <a:latin typeface="IBM Plex Mono" panose="020B0509050203000203" pitchFamily="49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2D338780-9917-4C01-A48C-A48447A4DF88}" type="datetime1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0EA1556B-66FE-4829-A7E8-4D71240747ED}" type="datetime1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E788FD3C-BF85-4C46-9CDA-6052FF7AE195}" type="datetime1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>
                <a:latin typeface="IBM Plex Mono" panose="020B05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>
                <a:latin typeface="IBM Plex Mono" panose="020B0509050203000203" pitchFamily="49" charset="0"/>
              </a:defRPr>
            </a:lvl1pPr>
            <a:lvl2pPr>
              <a:defRPr sz="1800">
                <a:latin typeface="IBM Plex Mono" panose="020B0509050203000203" pitchFamily="49" charset="0"/>
              </a:defRPr>
            </a:lvl2pPr>
            <a:lvl3pPr>
              <a:defRPr sz="1600">
                <a:latin typeface="IBM Plex Mono" panose="020B0509050203000203" pitchFamily="49" charset="0"/>
              </a:defRPr>
            </a:lvl3pPr>
            <a:lvl4pPr>
              <a:defRPr sz="1400">
                <a:latin typeface="IBM Plex Mono" panose="020B0509050203000203" pitchFamily="49" charset="0"/>
              </a:defRPr>
            </a:lvl4pPr>
            <a:lvl5pPr>
              <a:defRPr sz="1400">
                <a:latin typeface="IBM Plex Mono" panose="020B0509050203000203" pitchFamily="49" charset="0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>
                <a:latin typeface="IBM Plex Mono" panose="020B0509050203000203" pitchFamily="49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4525AE2B-5B52-4824-B3D3-0EFEAE644C32}" type="datetime1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>
                <a:latin typeface="IBM Plex Mono" panose="020B05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latin typeface="IBM Plex Mono" panose="020B0509050203000203" pitchFamily="49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IBM Plex Mono" panose="020B0509050203000203" pitchFamily="49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4A2CEE6E-7F27-4B22-BC6E-C0E61FA1B025}" type="datetime1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>
                <a:latin typeface="IBM Plex Mono" panose="020B05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latin typeface="IBM Plex Mono" panose="020B0509050203000203" pitchFamily="49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latin typeface="IBM Plex Mono" panose="020B0509050203000203" pitchFamily="49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884C3F24-0A35-419E-AE8D-21DAC7DCEFB2}" type="datetime1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>
                <a:latin typeface="IBM Plex Mono" panose="020B05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latin typeface="IBM Plex Mono" panose="020B0509050203000203" pitchFamily="49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88F2DABD-DAA2-44FB-84D8-701D232447E5}" type="datetime1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>
                <a:latin typeface="IBM Plex Mono" panose="020B05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IBM Plex Mono" panose="020B0509050203000203" pitchFamily="49" charset="0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latin typeface="IBM Plex Mono" panose="020B0509050203000203" pitchFamily="49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6B753826-E27B-43C9-9011-C0A2F699AB6C}" type="datetime1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>
                <a:latin typeface="IBM Plex Mono" panose="020B0509050203000203" pitchFamily="49" charset="0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>
                <a:latin typeface="IBM Plex Mono" panose="020B0509050203000203" pitchFamily="49" charset="0"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>
                <a:latin typeface="IBM Plex Mono" panose="020B05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  <a:latin typeface="IBM Plex Mono" panose="020B0509050203000203" pitchFamily="49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0538280F-0B99-4CAA-8C30-9F0D0338336F}" type="datetime1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>
                <a:latin typeface="IBM Plex Mono" panose="020B05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  <a:latin typeface="IBM Plex Mono" panose="020B0509050203000203" pitchFamily="49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latin typeface="IBM Plex Mono" panose="020B0509050203000203" pitchFamily="49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  <a:latin typeface="IBM Plex Mono" panose="020B0509050203000203" pitchFamily="49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latin typeface="IBM Plex Mono" panose="020B0509050203000203" pitchFamily="49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  <a:latin typeface="IBM Plex Mono" panose="020B0509050203000203" pitchFamily="49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latin typeface="IBM Plex Mono" panose="020B0509050203000203" pitchFamily="49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3211583F-4EC9-4BE4-95B7-D7EA6F0DBDEA}" type="datetime1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>
                <a:latin typeface="IBM Plex Mono" panose="020B05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  <a:latin typeface="IBM Plex Mono" panose="020B0509050203000203" pitchFamily="49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latin typeface="IBM Plex Mono" panose="020B0509050203000203" pitchFamily="49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latin typeface="IBM Plex Mono" panose="020B0509050203000203" pitchFamily="49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  <a:latin typeface="IBM Plex Mono" panose="020B0509050203000203" pitchFamily="49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latin typeface="IBM Plex Mono" panose="020B0509050203000203" pitchFamily="49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latin typeface="IBM Plex Mono" panose="020B0509050203000203" pitchFamily="49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  <a:latin typeface="IBM Plex Mono" panose="020B0509050203000203" pitchFamily="49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latin typeface="IBM Plex Mono" panose="020B0509050203000203" pitchFamily="49" charset="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latin typeface="IBM Plex Mono" panose="020B0509050203000203" pitchFamily="49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DCB5A169-DD97-4BC0-9A18-7954EB3832E7}" type="datetime1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>
            <a:lvl1pPr>
              <a:defRPr>
                <a:latin typeface="IBM Plex Mono" panose="020B0509050203000203" pitchFamily="49" charset="0"/>
              </a:defRPr>
            </a:lvl1pPr>
            <a:lvl2pPr>
              <a:defRPr>
                <a:latin typeface="IBM Plex Mono" panose="020B0509050203000203" pitchFamily="49" charset="0"/>
              </a:defRPr>
            </a:lvl2pPr>
            <a:lvl3pPr>
              <a:defRPr>
                <a:latin typeface="IBM Plex Mono" panose="020B0509050203000203" pitchFamily="49" charset="0"/>
              </a:defRPr>
            </a:lvl3pPr>
            <a:lvl4pPr>
              <a:defRPr>
                <a:latin typeface="IBM Plex Mono" panose="020B0509050203000203" pitchFamily="49" charset="0"/>
              </a:defRPr>
            </a:lvl4pPr>
            <a:lvl5pPr>
              <a:defRPr>
                <a:latin typeface="IBM Plex Mono" panose="020B0509050203000203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372E39CB-8939-408F-9C1B-F05BEAE34D15}" type="datetime1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>
            <a:lvl1pPr>
              <a:defRPr>
                <a:latin typeface="IBM Plex Mono" panose="020B0509050203000203" pitchFamily="49" charset="0"/>
              </a:defRPr>
            </a:lvl1pPr>
            <a:lvl2pPr>
              <a:defRPr>
                <a:latin typeface="IBM Plex Mono" panose="020B0509050203000203" pitchFamily="49" charset="0"/>
              </a:defRPr>
            </a:lvl2pPr>
            <a:lvl3pPr>
              <a:defRPr>
                <a:latin typeface="IBM Plex Mono" panose="020B0509050203000203" pitchFamily="49" charset="0"/>
              </a:defRPr>
            </a:lvl3pPr>
            <a:lvl4pPr>
              <a:defRPr>
                <a:latin typeface="IBM Plex Mono" panose="020B0509050203000203" pitchFamily="49" charset="0"/>
              </a:defRPr>
            </a:lvl4pPr>
            <a:lvl5pPr>
              <a:defRPr>
                <a:latin typeface="IBM Plex Mono" panose="020B0509050203000203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9BBEDEF6-BA2C-4FA0-8E7D-F5998907A544}" type="datetime1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IBM Plex Mono" panose="020B0509050203000203" pitchFamily="49" charset="0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  <a:latin typeface="IBM Plex Mono" panose="020B0509050203000203" pitchFamily="49" charset="0"/>
              </a:defRPr>
            </a:lvl1pPr>
          </a:lstStyle>
          <a:p>
            <a:fld id="{502190DA-F5E0-45CF-858A-0816817C0E2A}" type="datetime1">
              <a:rPr lang="en-US" smtClean="0"/>
              <a:pPr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  <a:latin typeface="IBM Plex Mono" panose="020B0509050203000203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  <a:latin typeface="IBM Plex Mono" panose="020B0509050203000203" pitchFamily="49" charset="0"/>
              </a:defRPr>
            </a:lvl1pPr>
          </a:lstStyle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IBM Plex Mono" panose="020B0509050203000203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IBM Plex Mono" panose="020B0509050203000203" pitchFamily="49" charset="0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IBM Plex Mono" panose="020B0509050203000203" pitchFamily="49" charset="0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IBM Plex Mono" panose="020B0509050203000203" pitchFamily="49" charset="0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IBM Plex Mono" panose="020B0509050203000203" pitchFamily="49" charset="0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IBM Plex Mono" panose="020B0509050203000203" pitchFamily="49" charset="0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i-can-turan/case-studies-academic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microsoft.com/office/2014/relationships/chartEx" Target="../charts/chartEx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84B7D-D6E4-CB05-47F2-69F18DA815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7355" y="1066800"/>
            <a:ext cx="9482565" cy="861420"/>
          </a:xfrm>
        </p:spPr>
        <p:txBody>
          <a:bodyPr/>
          <a:lstStyle/>
          <a:p>
            <a:r>
              <a:rPr lang="tr-TR" sz="5200" dirty="0" err="1"/>
              <a:t>DEMAND</a:t>
            </a:r>
            <a:r>
              <a:rPr lang="tr-TR" sz="5200" dirty="0"/>
              <a:t> </a:t>
            </a:r>
            <a:r>
              <a:rPr lang="tr-TR" sz="5200" dirty="0" err="1"/>
              <a:t>ANALYSIS</a:t>
            </a:r>
            <a:endParaRPr lang="en-US" sz="5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900469-0AAC-ADAB-82FE-223F7BAE0C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2080" y="1928220"/>
            <a:ext cx="8825658" cy="1500780"/>
          </a:xfrm>
        </p:spPr>
        <p:txBody>
          <a:bodyPr/>
          <a:lstStyle/>
          <a:p>
            <a:r>
              <a:rPr lang="tr-TR" cap="none" dirty="0"/>
              <a:t>Ali Can TURAN</a:t>
            </a:r>
          </a:p>
          <a:p>
            <a:r>
              <a:rPr lang="tr-TR" cap="none" dirty="0" err="1"/>
              <a:t>Aspiring</a:t>
            </a:r>
            <a:r>
              <a:rPr lang="tr-TR" cap="none" dirty="0"/>
              <a:t> </a:t>
            </a:r>
            <a:r>
              <a:rPr lang="tr-TR" cap="none" dirty="0" err="1"/>
              <a:t>Supply</a:t>
            </a:r>
            <a:r>
              <a:rPr lang="tr-TR" cap="none" dirty="0"/>
              <a:t> </a:t>
            </a:r>
            <a:r>
              <a:rPr lang="tr-TR" cap="none" dirty="0" err="1"/>
              <a:t>Chain</a:t>
            </a:r>
            <a:r>
              <a:rPr lang="tr-TR" cap="none" dirty="0"/>
              <a:t> Data </a:t>
            </a:r>
            <a:r>
              <a:rPr lang="tr-TR" cap="none" dirty="0" err="1"/>
              <a:t>Scientist</a:t>
            </a:r>
            <a:endParaRPr lang="tr-TR" cap="none" dirty="0"/>
          </a:p>
          <a:p>
            <a:r>
              <a:rPr lang="tr-TR" cap="none" dirty="0"/>
              <a:t>08 / 2026</a:t>
            </a:r>
          </a:p>
          <a:p>
            <a:endParaRPr lang="en-US" cap="none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5C916F6-9862-232C-EBAE-79D144461C5A}"/>
              </a:ext>
            </a:extLst>
          </p:cNvPr>
          <p:cNvSpPr txBox="1">
            <a:spLocks/>
          </p:cNvSpPr>
          <p:nvPr/>
        </p:nvSpPr>
        <p:spPr>
          <a:xfrm>
            <a:off x="1402080" y="5860047"/>
            <a:ext cx="4067285" cy="4347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IBM Plex Mono" panose="020B0509050203000203" pitchFamily="49" charset="0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IBM Plex Mono" panose="020B0509050203000203" pitchFamily="49" charset="0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IBM Plex Mono" panose="020B0509050203000203" pitchFamily="49" charset="0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IBM Plex Mono" panose="020B0509050203000203" pitchFamily="49" charset="0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IBM Plex Mono" panose="020B0509050203000203" pitchFamily="49" charset="0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US" sz="1400" cap="none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9DCD710-402B-7F29-AB0C-30A9874636FA}"/>
              </a:ext>
            </a:extLst>
          </p:cNvPr>
          <p:cNvSpPr txBox="1">
            <a:spLocks/>
          </p:cNvSpPr>
          <p:nvPr/>
        </p:nvSpPr>
        <p:spPr>
          <a:xfrm>
            <a:off x="1402080" y="3926840"/>
            <a:ext cx="9316720" cy="4347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IBM Plex Mono" panose="020B0509050203000203" pitchFamily="49" charset="0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IBM Plex Mono" panose="020B0509050203000203" pitchFamily="49" charset="0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IBM Plex Mono" panose="020B0509050203000203" pitchFamily="49" charset="0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IBM Plex Mono" panose="020B0509050203000203" pitchFamily="49" charset="0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IBM Plex Mono" panose="020B0509050203000203" pitchFamily="49" charset="0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tr-TR" sz="3000" cap="none" dirty="0" err="1"/>
              <a:t>BOTH</a:t>
            </a:r>
            <a:r>
              <a:rPr lang="tr-TR" sz="3000" cap="none" dirty="0"/>
              <a:t> </a:t>
            </a:r>
            <a:r>
              <a:rPr lang="tr-TR" sz="3000" cap="none" dirty="0" err="1"/>
              <a:t>VIA</a:t>
            </a:r>
            <a:r>
              <a:rPr lang="tr-TR" sz="3000" cap="none" dirty="0"/>
              <a:t> MS EXCEL </a:t>
            </a:r>
            <a:r>
              <a:rPr lang="tr-TR" sz="3000" cap="none" dirty="0" err="1"/>
              <a:t>AND</a:t>
            </a:r>
            <a:r>
              <a:rPr lang="tr-TR" sz="3000" cap="none" dirty="0"/>
              <a:t> </a:t>
            </a:r>
            <a:r>
              <a:rPr lang="tr-TR" sz="3000" cap="none" dirty="0" err="1"/>
              <a:t>MACHINE</a:t>
            </a:r>
            <a:r>
              <a:rPr lang="tr-TR" sz="3000" cap="none" dirty="0"/>
              <a:t> </a:t>
            </a:r>
            <a:r>
              <a:rPr lang="tr-TR" sz="3000" cap="none" dirty="0" err="1"/>
              <a:t>LEARNING</a:t>
            </a:r>
            <a:r>
              <a:rPr lang="tr-TR" sz="3000" cap="none" dirty="0"/>
              <a:t> </a:t>
            </a:r>
          </a:p>
          <a:p>
            <a:endParaRPr lang="en-US" sz="3000" cap="non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6A7B0C0-6D75-3F5D-0F4C-C05B8A5E83CB}"/>
              </a:ext>
            </a:extLst>
          </p:cNvPr>
          <p:cNvSpPr txBox="1">
            <a:spLocks/>
          </p:cNvSpPr>
          <p:nvPr/>
        </p:nvSpPr>
        <p:spPr>
          <a:xfrm>
            <a:off x="4407797" y="6537590"/>
            <a:ext cx="7601323" cy="32041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IBM Plex Mono" panose="020B0509050203000203" pitchFamily="49" charset="0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IBM Plex Mono" panose="020B0509050203000203" pitchFamily="49" charset="0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IBM Plex Mono" panose="020B0509050203000203" pitchFamily="49" charset="0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IBM Plex Mono" panose="020B0509050203000203" pitchFamily="49" charset="0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IBM Plex Mono" panose="020B0509050203000203" pitchFamily="49" charset="0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tr-TR" sz="1200" cap="none" dirty="0"/>
              <a:t>Data is </a:t>
            </a:r>
            <a:r>
              <a:rPr lang="tr-TR" sz="1200" cap="none" dirty="0" err="1"/>
              <a:t>obtained</a:t>
            </a:r>
            <a:r>
              <a:rPr lang="tr-TR" sz="1200" cap="none" dirty="0"/>
              <a:t> </a:t>
            </a:r>
            <a:r>
              <a:rPr lang="tr-TR" sz="1200" cap="none" dirty="0" err="1"/>
              <a:t>from</a:t>
            </a:r>
            <a:r>
              <a:rPr lang="tr-TR" sz="1200" cap="none" dirty="0"/>
              <a:t> ‘</a:t>
            </a:r>
            <a:r>
              <a:rPr lang="tr-TR" sz="1200" cap="none" dirty="0" err="1"/>
              <a:t>Demand</a:t>
            </a:r>
            <a:r>
              <a:rPr lang="tr-TR" sz="1200" cap="none" dirty="0"/>
              <a:t> </a:t>
            </a:r>
            <a:r>
              <a:rPr lang="tr-TR" sz="1200" cap="none" dirty="0" err="1"/>
              <a:t>Analytics</a:t>
            </a:r>
            <a:r>
              <a:rPr lang="tr-TR" sz="1200" cap="none" dirty="0"/>
              <a:t> Course – </a:t>
            </a:r>
            <a:r>
              <a:rPr lang="tr-TR" sz="1200" cap="none" dirty="0" err="1"/>
              <a:t>Rutgers</a:t>
            </a:r>
            <a:r>
              <a:rPr lang="tr-TR" sz="1200" cap="none" dirty="0"/>
              <a:t> </a:t>
            </a:r>
            <a:r>
              <a:rPr lang="tr-TR" sz="1200" cap="none" dirty="0" err="1"/>
              <a:t>University</a:t>
            </a:r>
            <a:r>
              <a:rPr lang="tr-TR" sz="1200" cap="none" dirty="0"/>
              <a:t> / </a:t>
            </a:r>
            <a:r>
              <a:rPr lang="tr-TR" sz="1200" cap="none" dirty="0" err="1"/>
              <a:t>Coursera</a:t>
            </a:r>
            <a:r>
              <a:rPr lang="tr-TR" sz="1200" cap="none" dirty="0"/>
              <a:t>’</a:t>
            </a:r>
          </a:p>
          <a:p>
            <a:endParaRPr lang="en-US" sz="1200" cap="none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B7A0103-E4D7-F7C6-F433-2A5DAA8D4E5B}"/>
              </a:ext>
            </a:extLst>
          </p:cNvPr>
          <p:cNvSpPr txBox="1">
            <a:spLocks/>
          </p:cNvSpPr>
          <p:nvPr/>
        </p:nvSpPr>
        <p:spPr>
          <a:xfrm>
            <a:off x="1402080" y="5259331"/>
            <a:ext cx="8046720" cy="10354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indent="0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cap="none">
                <a:solidFill>
                  <a:schemeClr val="bg2">
                    <a:lumMod val="40000"/>
                    <a:lumOff val="60000"/>
                  </a:schemeClr>
                </a:solidFill>
                <a:latin typeface="IBM Plex Mono" panose="020B0509050203000203" pitchFamily="49" charset="0"/>
                <a:ea typeface="+mj-ea"/>
                <a:cs typeface="+mj-cs"/>
              </a:defRPr>
            </a:lvl1pPr>
            <a:lvl2pPr indent="0" algn="ctr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b="0" i="0">
                <a:solidFill>
                  <a:schemeClr val="tx1">
                    <a:tint val="75000"/>
                  </a:schemeClr>
                </a:solidFill>
                <a:latin typeface="IBM Plex Mono" panose="020B0509050203000203" pitchFamily="49" charset="0"/>
                <a:ea typeface="+mj-ea"/>
                <a:cs typeface="+mj-cs"/>
              </a:defRPr>
            </a:lvl2pPr>
            <a:lvl3pPr indent="0" algn="ctr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>
                <a:solidFill>
                  <a:schemeClr val="tx1">
                    <a:tint val="75000"/>
                  </a:schemeClr>
                </a:solidFill>
                <a:latin typeface="IBM Plex Mono" panose="020B0509050203000203" pitchFamily="49" charset="0"/>
                <a:ea typeface="+mj-ea"/>
                <a:cs typeface="+mj-cs"/>
              </a:defRPr>
            </a:lvl3pPr>
            <a:lvl4pPr indent="0" algn="ctr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>
                <a:solidFill>
                  <a:schemeClr val="tx1">
                    <a:tint val="75000"/>
                  </a:schemeClr>
                </a:solidFill>
                <a:latin typeface="IBM Plex Mono" panose="020B0509050203000203" pitchFamily="49" charset="0"/>
                <a:ea typeface="+mj-ea"/>
                <a:cs typeface="+mj-cs"/>
              </a:defRPr>
            </a:lvl4pPr>
            <a:lvl5pPr indent="0" algn="ctr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>
                <a:solidFill>
                  <a:schemeClr val="tx1">
                    <a:tint val="75000"/>
                  </a:schemeClr>
                </a:solidFill>
                <a:latin typeface="IBM Plex Mono" panose="020B0509050203000203" pitchFamily="49" charset="0"/>
                <a:ea typeface="+mj-ea"/>
                <a:cs typeface="+mj-cs"/>
              </a:defRPr>
            </a:lvl5pPr>
            <a:lvl6pPr indent="0" algn="ctr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indent="0" algn="ctr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indent="0" algn="ctr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indent="0" algn="ctr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tr-TR" sz="1200" dirty="0">
                <a:hlinkClick r:id="rId2"/>
              </a:rPr>
              <a:t>https://github.com/ali-can-turan/</a:t>
            </a:r>
            <a:endParaRPr lang="tr-TR" sz="1200" dirty="0">
              <a:hlinkClick r:id="rId2"/>
            </a:endParaRPr>
          </a:p>
          <a:p>
            <a:r>
              <a:rPr lang="tr-TR" sz="1200" dirty="0"/>
              <a:t>https://github.com/ali-can-turan/case-studies-academic/tree/main/Demand%20Analysis </a:t>
            </a:r>
          </a:p>
          <a:p>
            <a:r>
              <a:rPr lang="tr-TR" sz="1200" dirty="0"/>
              <a:t>ali.can.turan@outlook.com</a:t>
            </a:r>
          </a:p>
        </p:txBody>
      </p:sp>
    </p:spTree>
    <p:extLst>
      <p:ext uri="{BB962C8B-B14F-4D97-AF65-F5344CB8AC3E}">
        <p14:creationId xmlns:p14="http://schemas.microsoft.com/office/powerpoint/2010/main" val="517006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1B342-DCCC-6D3D-97E3-F20F916C9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ACTUAL</a:t>
            </a:r>
            <a:r>
              <a:rPr lang="tr-TR" dirty="0"/>
              <a:t> </a:t>
            </a:r>
            <a:r>
              <a:rPr lang="tr-TR" dirty="0" err="1"/>
              <a:t>DEMAND</a:t>
            </a:r>
            <a:r>
              <a:rPr lang="tr-TR" dirty="0"/>
              <a:t> </a:t>
            </a:r>
            <a:r>
              <a:rPr lang="tr-TR" dirty="0" err="1"/>
              <a:t>VALUES</a:t>
            </a:r>
            <a:r>
              <a:rPr lang="tr-TR" dirty="0"/>
              <a:t> - </a:t>
            </a:r>
            <a:r>
              <a:rPr lang="tr-TR" dirty="0" err="1"/>
              <a:t>TABLE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8AC0C-E49D-DA32-43B5-0448DC2E8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61A3239-3D74-78EE-5B6F-F29D8AC030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519577"/>
              </p:ext>
            </p:extLst>
          </p:nvPr>
        </p:nvGraphicFramePr>
        <p:xfrm>
          <a:off x="792480" y="1270000"/>
          <a:ext cx="7030716" cy="51644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2062">
                  <a:extLst>
                    <a:ext uri="{9D8B030D-6E8A-4147-A177-3AD203B41FA5}">
                      <a16:colId xmlns:a16="http://schemas.microsoft.com/office/drawing/2014/main" val="1022840929"/>
                    </a:ext>
                  </a:extLst>
                </a:gridCol>
                <a:gridCol w="749175">
                  <a:extLst>
                    <a:ext uri="{9D8B030D-6E8A-4147-A177-3AD203B41FA5}">
                      <a16:colId xmlns:a16="http://schemas.microsoft.com/office/drawing/2014/main" val="3942965712"/>
                    </a:ext>
                  </a:extLst>
                </a:gridCol>
                <a:gridCol w="768385">
                  <a:extLst>
                    <a:ext uri="{9D8B030D-6E8A-4147-A177-3AD203B41FA5}">
                      <a16:colId xmlns:a16="http://schemas.microsoft.com/office/drawing/2014/main" val="440373137"/>
                    </a:ext>
                  </a:extLst>
                </a:gridCol>
                <a:gridCol w="768385">
                  <a:extLst>
                    <a:ext uri="{9D8B030D-6E8A-4147-A177-3AD203B41FA5}">
                      <a16:colId xmlns:a16="http://schemas.microsoft.com/office/drawing/2014/main" val="1459385118"/>
                    </a:ext>
                  </a:extLst>
                </a:gridCol>
                <a:gridCol w="451426">
                  <a:extLst>
                    <a:ext uri="{9D8B030D-6E8A-4147-A177-3AD203B41FA5}">
                      <a16:colId xmlns:a16="http://schemas.microsoft.com/office/drawing/2014/main" val="2561517626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4288096201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2096762378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2544447314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2582014540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604540682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614978500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3507898172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826458662"/>
                    </a:ext>
                  </a:extLst>
                </a:gridCol>
                <a:gridCol w="374587">
                  <a:extLst>
                    <a:ext uri="{9D8B030D-6E8A-4147-A177-3AD203B41FA5}">
                      <a16:colId xmlns:a16="http://schemas.microsoft.com/office/drawing/2014/main" val="2734891386"/>
                    </a:ext>
                  </a:extLst>
                </a:gridCol>
              </a:tblGrid>
              <a:tr h="3882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month year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10-Piece Set sold units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Time in month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10-Piece Set sale price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Feb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Mar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Apr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May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Jun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Jul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Aug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Oct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Nov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Dec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793883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Jan-11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219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$949.98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553530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Feb-11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175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2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$949.98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251462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Mar-11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306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3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$949.98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634301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Apr-11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394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4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$949.98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593127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May-11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394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5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$949.98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194281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Jun-11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131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6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$949.98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076224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Jul-11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131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7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$949.98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087394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Aug-11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438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8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$949.98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894282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Sep-11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525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9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$949.98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6884122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Oct-11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613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$949.98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469128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Nov-11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657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$949.98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964104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Dec-11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394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12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$949.98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297075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Jan-12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354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13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$949.98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219855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Feb-12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706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14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$949.98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465306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Mar-12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603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15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$949.98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021261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Apr-12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603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16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$949.98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865677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May-12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367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17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$949.98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782306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Jun-12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328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18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$949.98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542422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Jul-12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509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19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$949.98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208463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Aug-12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429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20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$949.98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871660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Sep-12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417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21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$949.98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886569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Oct-12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1,553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22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$799.95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70085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Nov-12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1,670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23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$799.95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548367"/>
                  </a:ext>
                </a:extLst>
              </a:tr>
              <a:tr h="197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Dec-12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1,204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24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$799.95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5985" marR="5985" marT="598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22149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3A1536F-BA77-CBF8-67A4-4DFA291DC486}"/>
              </a:ext>
            </a:extLst>
          </p:cNvPr>
          <p:cNvSpPr txBox="1"/>
          <p:nvPr/>
        </p:nvSpPr>
        <p:spPr>
          <a:xfrm>
            <a:off x="7965440" y="1245602"/>
            <a:ext cx="3708400" cy="544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tr-TR" b="1" dirty="0" err="1">
                <a:latin typeface="IBM Plex Mono" panose="020B0509050203000203" pitchFamily="49" charset="0"/>
              </a:rPr>
              <a:t>Continuous</a:t>
            </a:r>
            <a:r>
              <a:rPr lang="tr-TR" b="1" dirty="0">
                <a:latin typeface="IBM Plex Mono" panose="020B0509050203000203" pitchFamily="49" charset="0"/>
              </a:rPr>
              <a:t> </a:t>
            </a:r>
            <a:r>
              <a:rPr lang="tr-TR" b="1" dirty="0" err="1">
                <a:latin typeface="IBM Plex Mono" panose="020B0509050203000203" pitchFamily="49" charset="0"/>
              </a:rPr>
              <a:t>variables</a:t>
            </a:r>
            <a:endParaRPr lang="tr-TR" b="1" dirty="0">
              <a:latin typeface="IBM Plex Mono" panose="020B0509050203000203" pitchFamily="49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>
                <a:latin typeface="IBM Plex Mono" panose="020B0509050203000203" pitchFamily="49" charset="0"/>
              </a:rPr>
              <a:t>Time in </a:t>
            </a:r>
            <a:r>
              <a:rPr lang="tr-TR" dirty="0" err="1">
                <a:latin typeface="IBM Plex Mono" panose="020B0509050203000203" pitchFamily="49" charset="0"/>
              </a:rPr>
              <a:t>month</a:t>
            </a:r>
            <a:endParaRPr lang="tr-TR" dirty="0">
              <a:latin typeface="IBM Plex Mono" panose="020B0509050203000203" pitchFamily="49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IBM Plex Mono" panose="020B0509050203000203" pitchFamily="49" charset="0"/>
              </a:rPr>
              <a:t>10-Piece Set sale price</a:t>
            </a:r>
            <a:endParaRPr lang="tr-TR" dirty="0">
              <a:latin typeface="IBM Plex Mono" panose="020B0509050203000203" pitchFamily="49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solidFill>
                <a:srgbClr val="000000"/>
              </a:solidFill>
              <a:latin typeface="IBM Plex Mono" panose="020B0509050203000203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tr-TR" b="1" dirty="0" err="1">
                <a:latin typeface="IBM Plex Mono" panose="020B0509050203000203" pitchFamily="49" charset="0"/>
              </a:rPr>
              <a:t>Categoric</a:t>
            </a:r>
            <a:r>
              <a:rPr lang="tr-TR" b="1" dirty="0">
                <a:latin typeface="IBM Plex Mono" panose="020B0509050203000203" pitchFamily="49" charset="0"/>
              </a:rPr>
              <a:t> </a:t>
            </a:r>
            <a:r>
              <a:rPr lang="tr-TR" b="1" dirty="0" err="1">
                <a:latin typeface="IBM Plex Mono" panose="020B0509050203000203" pitchFamily="49" charset="0"/>
              </a:rPr>
              <a:t>variables</a:t>
            </a:r>
            <a:endParaRPr lang="tr-TR" b="1" dirty="0">
              <a:latin typeface="IBM Plex Mono" panose="020B0509050203000203" pitchFamily="49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 err="1">
                <a:latin typeface="IBM Plex Mono" panose="020B0509050203000203" pitchFamily="49" charset="0"/>
              </a:rPr>
              <a:t>Months</a:t>
            </a:r>
            <a:r>
              <a:rPr lang="tr-TR" dirty="0">
                <a:latin typeface="IBM Plex Mono" panose="020B0509050203000203" pitchFamily="49" charset="0"/>
              </a:rPr>
              <a:t> 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 N-1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rule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applied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:  2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months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with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baseline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demand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removed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tr-TR" dirty="0">
              <a:latin typeface="IBM Plex Mono" panose="020B0509050203000203" pitchFamily="49" charset="0"/>
              <a:sym typeface="Wingdings" panose="05000000000000000000" pitchFamily="2" charset="2"/>
            </a:endParaRPr>
          </a:p>
          <a:p>
            <a:pPr algn="just">
              <a:lnSpc>
                <a:spcPct val="150000"/>
              </a:lnSpc>
            </a:pPr>
            <a:r>
              <a:rPr lang="tr-TR" b="1" dirty="0" err="1">
                <a:latin typeface="IBM Plex Mono" panose="020B0509050203000203" pitchFamily="49" charset="0"/>
                <a:sym typeface="Wingdings" panose="05000000000000000000" pitchFamily="2" charset="2"/>
              </a:rPr>
              <a:t>Target</a:t>
            </a:r>
            <a:r>
              <a:rPr lang="tr-TR" b="1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b="1" dirty="0" err="1">
                <a:latin typeface="IBM Plex Mono" panose="020B0509050203000203" pitchFamily="49" charset="0"/>
                <a:sym typeface="Wingdings" panose="05000000000000000000" pitchFamily="2" charset="2"/>
              </a:rPr>
              <a:t>variable</a:t>
            </a:r>
            <a:endParaRPr lang="tr-TR" b="1" dirty="0">
              <a:latin typeface="IBM Plex Mono" panose="020B0509050203000203" pitchFamily="49" charset="0"/>
              <a:sym typeface="Wingdings" panose="05000000000000000000" pitchFamily="2" charset="2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10-Piece Set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sols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units</a:t>
            </a:r>
            <a:endParaRPr lang="tr-TR" dirty="0">
              <a:latin typeface="IBM Plex Mono" panose="020B0509050203000203" pitchFamily="49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latin typeface="IBM Plex Mono" panose="020B0509050203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714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66328-E165-5A3B-6C0B-762E64EA1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6" y="2861733"/>
            <a:ext cx="9197584" cy="1915647"/>
          </a:xfrm>
        </p:spPr>
        <p:txBody>
          <a:bodyPr/>
          <a:lstStyle/>
          <a:p>
            <a:r>
              <a:rPr lang="tr-TR" dirty="0" err="1"/>
              <a:t>VIA</a:t>
            </a:r>
            <a:r>
              <a:rPr lang="tr-TR" dirty="0"/>
              <a:t> EXCEL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TOOLPAK</a:t>
            </a:r>
            <a:br>
              <a:rPr lang="tr-TR" dirty="0"/>
            </a:br>
            <a:r>
              <a:rPr lang="tr-TR" dirty="0" err="1"/>
              <a:t>REGRESSION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F7F73-7BB4-1722-5D6B-94254D7DE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CFA72-A990-8C56-8ECF-520DB2E60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323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9DEB-FBA7-7089-222E-B8E031739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VIA</a:t>
            </a:r>
            <a:r>
              <a:rPr lang="tr-TR" dirty="0"/>
              <a:t> EXCEL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TOOLPAK</a:t>
            </a:r>
            <a:br>
              <a:rPr lang="tr-TR" dirty="0"/>
            </a:br>
            <a:r>
              <a:rPr lang="tr-TR" dirty="0" err="1"/>
              <a:t>REGRESSION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2E55CDF-EB15-B9FA-0D19-12C5BE11C49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4181791"/>
              </p:ext>
            </p:extLst>
          </p:nvPr>
        </p:nvGraphicFramePr>
        <p:xfrm>
          <a:off x="646111" y="2128996"/>
          <a:ext cx="3314700" cy="1981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989223958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3384561609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SUMMARY OUTPUT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30807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688656"/>
                  </a:ext>
                </a:extLst>
              </a:tr>
              <a:tr h="20574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Regression Statistics</a:t>
                      </a:r>
                      <a:endParaRPr lang="en-US" sz="1100" b="0" i="1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388509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Multiple R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0.974241697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02256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R Square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FF0000"/>
                          </a:solidFill>
                          <a:effectLst/>
                          <a:latin typeface="IBM Plex Mono" panose="020B0509050203000203" pitchFamily="49" charset="0"/>
                        </a:rPr>
                        <a:t>0.949146885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87490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Adjusted R Square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0.893670759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2687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Standard Error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129.6407713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8542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Observations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24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039242"/>
                  </a:ext>
                </a:extLst>
              </a:tr>
            </a:tbl>
          </a:graphicData>
        </a:graphic>
      </p:graphicFrame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4AF2636-90B7-DBF9-2924-4008ADD5478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02243953"/>
              </p:ext>
            </p:extLst>
          </p:nvPr>
        </p:nvGraphicFramePr>
        <p:xfrm>
          <a:off x="8838700" y="2128996"/>
          <a:ext cx="3027679" cy="40530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9999">
                  <a:extLst>
                    <a:ext uri="{9D8B030D-6E8A-4147-A177-3AD203B41FA5}">
                      <a16:colId xmlns:a16="http://schemas.microsoft.com/office/drawing/2014/main" val="238114049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188394002"/>
                    </a:ext>
                  </a:extLst>
                </a:gridCol>
                <a:gridCol w="751840">
                  <a:extLst>
                    <a:ext uri="{9D8B030D-6E8A-4147-A177-3AD203B41FA5}">
                      <a16:colId xmlns:a16="http://schemas.microsoft.com/office/drawing/2014/main" val="4048885588"/>
                    </a:ext>
                  </a:extLst>
                </a:gridCol>
              </a:tblGrid>
              <a:tr h="4565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 </a:t>
                      </a:r>
                      <a:endParaRPr lang="en-US" sz="1000" b="1" i="1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Coefficients</a:t>
                      </a:r>
                      <a:endParaRPr lang="en-US" sz="1000" b="1" i="1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P-value</a:t>
                      </a:r>
                      <a:endParaRPr lang="en-US" sz="1000" b="1" i="1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262166"/>
                  </a:ext>
                </a:extLst>
              </a:tr>
              <a:tr h="2739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Intercept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4855.135495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rgbClr val="FF0000"/>
                          </a:solidFill>
                          <a:effectLst/>
                          <a:latin typeface="IBM Plex Mono" panose="020B0509050203000203" pitchFamily="49" charset="0"/>
                        </a:rPr>
                        <a:t>7.66E-05</a:t>
                      </a:r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879384"/>
                  </a:ext>
                </a:extLst>
              </a:tr>
              <a:tr h="2739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Time in month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15.58146067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rgbClr val="FF0000"/>
                          </a:solidFill>
                          <a:effectLst/>
                          <a:latin typeface="IBM Plex Mono" panose="020B0509050203000203" pitchFamily="49" charset="0"/>
                        </a:rPr>
                        <a:t>0.008349</a:t>
                      </a:r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2002187"/>
                  </a:ext>
                </a:extLst>
              </a:tr>
              <a:tr h="2739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10-Piece Set sale price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-4.892504645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rgbClr val="FF0000"/>
                          </a:solidFill>
                          <a:effectLst/>
                          <a:latin typeface="IBM Plex Mono" panose="020B0509050203000203" pitchFamily="49" charset="0"/>
                        </a:rPr>
                        <a:t>8.03E-05</a:t>
                      </a:r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250500"/>
                  </a:ext>
                </a:extLst>
              </a:tr>
              <a:tr h="2739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Feb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108.494382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0.358496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832441"/>
                  </a:ext>
                </a:extLst>
              </a:tr>
              <a:tr h="2739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Mar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106.9129213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0.363141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718112"/>
                  </a:ext>
                </a:extLst>
              </a:tr>
              <a:tr h="2739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Apr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135.3314607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0.253762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962948"/>
                  </a:ext>
                </a:extLst>
              </a:tr>
              <a:tr h="2739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May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1.75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0.987843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816963"/>
                  </a:ext>
                </a:extLst>
              </a:tr>
              <a:tr h="2739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Jun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-164.8314607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0.170437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100647"/>
                  </a:ext>
                </a:extLst>
              </a:tr>
              <a:tr h="2739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Jul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-89.91292135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0.441833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840901"/>
                  </a:ext>
                </a:extLst>
              </a:tr>
              <a:tr h="2739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Aug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8.005617978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0.944896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358747"/>
                  </a:ext>
                </a:extLst>
              </a:tr>
              <a:tr h="2739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Oct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259.3314607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0.060879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492791"/>
                  </a:ext>
                </a:extLst>
              </a:tr>
              <a:tr h="2739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Nov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324.25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rgbClr val="FF0000"/>
                          </a:solidFill>
                          <a:effectLst/>
                          <a:latin typeface="IBM Plex Mono" panose="020B0509050203000203" pitchFamily="49" charset="0"/>
                        </a:rPr>
                        <a:t>0.024156</a:t>
                      </a:r>
                      <a:endParaRPr 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86191"/>
                  </a:ext>
                </a:extLst>
              </a:tr>
              <a:tr h="2739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Dec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-55.83146067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0.661821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4418" marR="4418" marT="441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555231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BC2648-5F6D-195F-2E5F-03DD356BA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C7CA2-16BA-1850-9C4E-E585EAE47D14}"/>
              </a:ext>
            </a:extLst>
          </p:cNvPr>
          <p:cNvSpPr txBox="1"/>
          <p:nvPr/>
        </p:nvSpPr>
        <p:spPr>
          <a:xfrm>
            <a:off x="4236720" y="2128996"/>
            <a:ext cx="4155440" cy="2636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dirty="0" err="1">
                <a:latin typeface="IBM Plex Mono" panose="020B0509050203000203" pitchFamily="49" charset="0"/>
              </a:rPr>
              <a:t>Categoric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variable</a:t>
            </a:r>
            <a:r>
              <a:rPr lang="tr-TR" sz="1600" dirty="0">
                <a:latin typeface="IBM Plex Mono" panose="020B0509050203000203" pitchFamily="49" charset="0"/>
              </a:rPr>
              <a:t> ‘</a:t>
            </a:r>
            <a:r>
              <a:rPr lang="tr-TR" sz="1600" dirty="0" err="1">
                <a:latin typeface="IBM Plex Mono" panose="020B0509050203000203" pitchFamily="49" charset="0"/>
              </a:rPr>
              <a:t>Nov</a:t>
            </a:r>
            <a:r>
              <a:rPr lang="tr-TR" sz="1600" dirty="0">
                <a:latin typeface="IBM Plex Mono" panose="020B0509050203000203" pitchFamily="49" charset="0"/>
              </a:rPr>
              <a:t>’ is </a:t>
            </a:r>
            <a:r>
              <a:rPr lang="tr-TR" sz="1600" dirty="0" err="1">
                <a:latin typeface="IBM Plex Mono" panose="020B0509050203000203" pitchFamily="49" charset="0"/>
              </a:rPr>
              <a:t>the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only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one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with</a:t>
            </a:r>
            <a:r>
              <a:rPr lang="tr-TR" sz="1600" dirty="0">
                <a:latin typeface="IBM Plex Mono" panose="020B0509050203000203" pitchFamily="49" charset="0"/>
              </a:rPr>
              <a:t> a </a:t>
            </a:r>
            <a:r>
              <a:rPr lang="tr-TR" sz="1600" dirty="0" err="1">
                <a:latin typeface="IBM Plex Mono" panose="020B0509050203000203" pitchFamily="49" charset="0"/>
              </a:rPr>
              <a:t>significant</a:t>
            </a:r>
            <a:r>
              <a:rPr lang="tr-TR" sz="1600" dirty="0">
                <a:latin typeface="IBM Plex Mono" panose="020B0509050203000203" pitchFamily="49" charset="0"/>
              </a:rPr>
              <a:t> p </a:t>
            </a:r>
            <a:r>
              <a:rPr lang="tr-TR" sz="1600" dirty="0" err="1">
                <a:latin typeface="IBM Plex Mono" panose="020B0509050203000203" pitchFamily="49" charset="0"/>
              </a:rPr>
              <a:t>value</a:t>
            </a:r>
            <a:r>
              <a:rPr lang="tr-TR" sz="1600" dirty="0">
                <a:latin typeface="IBM Plex Mono" panose="020B0509050203000203" pitchFamily="49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dirty="0">
                <a:solidFill>
                  <a:srgbClr val="FF0000"/>
                </a:solidFill>
                <a:latin typeface="IBM Plex Mono" panose="020B0509050203000203" pitchFamily="49" charset="0"/>
              </a:rPr>
              <a:t>Train R </a:t>
            </a:r>
            <a:r>
              <a:rPr lang="tr-TR" sz="1600" dirty="0" err="1">
                <a:solidFill>
                  <a:srgbClr val="FF0000"/>
                </a:solidFill>
                <a:latin typeface="IBM Plex Mono" panose="020B0509050203000203" pitchFamily="49" charset="0"/>
              </a:rPr>
              <a:t>square</a:t>
            </a:r>
            <a:r>
              <a:rPr lang="tr-TR" sz="1600" dirty="0">
                <a:solidFill>
                  <a:srgbClr val="FF0000"/>
                </a:solidFill>
                <a:latin typeface="IBM Plex Mono" panose="020B0509050203000203" pitchFamily="49" charset="0"/>
              </a:rPr>
              <a:t> is 94.92%.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dirty="0">
                <a:solidFill>
                  <a:srgbClr val="FF0000"/>
                </a:solidFill>
                <a:latin typeface="IBM Plex Mono" panose="020B0509050203000203" pitchFamily="49" charset="0"/>
              </a:rPr>
              <a:t>Test R </a:t>
            </a:r>
            <a:r>
              <a:rPr lang="tr-TR" sz="1600" dirty="0" err="1">
                <a:solidFill>
                  <a:srgbClr val="FF0000"/>
                </a:solidFill>
                <a:latin typeface="IBM Plex Mono" panose="020B0509050203000203" pitchFamily="49" charset="0"/>
              </a:rPr>
              <a:t>square</a:t>
            </a:r>
            <a:r>
              <a:rPr lang="tr-TR" sz="1600" dirty="0">
                <a:solidFill>
                  <a:srgbClr val="FF0000"/>
                </a:solidFill>
                <a:latin typeface="IBM Plex Mono" panose="020B0509050203000203" pitchFamily="49" charset="0"/>
              </a:rPr>
              <a:t> is 42.93%.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dirty="0">
                <a:latin typeface="IBM Plex Mono" panose="020B0509050203000203" pitchFamily="49" charset="0"/>
              </a:rPr>
              <a:t>Normal </a:t>
            </a:r>
            <a:r>
              <a:rPr lang="tr-TR" sz="1600" dirty="0" err="1">
                <a:latin typeface="IBM Plex Mono" panose="020B0509050203000203" pitchFamily="49" charset="0"/>
              </a:rPr>
              <a:t>with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scarce</a:t>
            </a:r>
            <a:r>
              <a:rPr lang="tr-TR" sz="1600" dirty="0">
                <a:latin typeface="IBM Plex Mono" panose="020B0509050203000203" pitchFamily="49" charset="0"/>
              </a:rPr>
              <a:t> test data </a:t>
            </a:r>
            <a:r>
              <a:rPr lang="tr-TR" sz="1600" dirty="0">
                <a:latin typeface="IBM Plex Mono" panose="020B0509050203000203" pitchFamily="49" charset="0"/>
                <a:sym typeface="Wingdings" panose="05000000000000000000" pitchFamily="2" charset="2"/>
              </a:rPr>
              <a:t> </a:t>
            </a:r>
            <a:r>
              <a:rPr lang="tr-TR" sz="16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test_size</a:t>
            </a:r>
            <a:r>
              <a:rPr lang="tr-TR" sz="1600" dirty="0">
                <a:latin typeface="IBM Plex Mono" panose="020B0509050203000203" pitchFamily="49" charset="0"/>
                <a:sym typeface="Wingdings" panose="05000000000000000000" pitchFamily="2" charset="2"/>
              </a:rPr>
              <a:t>=3</a:t>
            </a:r>
            <a:endParaRPr lang="en-US" sz="1600" dirty="0">
              <a:latin typeface="IBM Plex Mono" panose="020B0509050203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170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FC1586-5911-81ED-A87F-C80B2C1B1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7FFDA-C591-824D-B039-C51F36928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VIA</a:t>
            </a:r>
            <a:r>
              <a:rPr lang="tr-TR" dirty="0"/>
              <a:t> EXCEL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TOOLPAK</a:t>
            </a:r>
            <a:br>
              <a:rPr lang="tr-TR" dirty="0"/>
            </a:br>
            <a:r>
              <a:rPr lang="tr-TR" dirty="0" err="1"/>
              <a:t>REGRESSION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3566C6-9AB2-9DC1-119E-DA0AD9DD3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EA1D25D6-E234-3953-BB27-21186DBDAF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1453920"/>
              </p:ext>
            </p:extLst>
          </p:nvPr>
        </p:nvGraphicFramePr>
        <p:xfrm>
          <a:off x="646111" y="2047241"/>
          <a:ext cx="5394960" cy="4100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03177F83-B5E9-313D-A5A4-D1697659F0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7446868"/>
              </p:ext>
            </p:extLst>
          </p:nvPr>
        </p:nvGraphicFramePr>
        <p:xfrm>
          <a:off x="6199638" y="2057400"/>
          <a:ext cx="5394960" cy="4100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89717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FA28C1-AB2A-05D2-807C-FB5F48009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F393-D63B-6416-EA53-FA2777213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VIA</a:t>
            </a:r>
            <a:r>
              <a:rPr lang="tr-TR" dirty="0"/>
              <a:t> EXCEL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TOOLPAK</a:t>
            </a:r>
            <a:br>
              <a:rPr lang="tr-TR" dirty="0"/>
            </a:br>
            <a:r>
              <a:rPr lang="tr-TR" dirty="0" err="1"/>
              <a:t>REGRESSION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B51E3-E29E-E83B-F612-1A54CA822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</a:t>
            </a:fld>
            <a:endParaRPr lang="en-US" dirty="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DB0216D3-A46A-9666-910F-66CB4037B4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3800606"/>
              </p:ext>
            </p:extLst>
          </p:nvPr>
        </p:nvGraphicFramePr>
        <p:xfrm>
          <a:off x="646110" y="2092961"/>
          <a:ext cx="7268530" cy="2042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BDD6B03-537D-55DC-1B1E-41959681B831}"/>
              </a:ext>
            </a:extLst>
          </p:cNvPr>
          <p:cNvSpPr txBox="1"/>
          <p:nvPr/>
        </p:nvSpPr>
        <p:spPr>
          <a:xfrm>
            <a:off x="8117840" y="2092960"/>
            <a:ext cx="3738880" cy="4094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tr-TR" sz="1500" dirty="0" err="1">
                <a:latin typeface="IBM Plex Mono" panose="020B0509050203000203" pitchFamily="49" charset="0"/>
              </a:rPr>
              <a:t>Residual</a:t>
            </a:r>
            <a:r>
              <a:rPr lang="tr-TR" sz="1500" dirty="0">
                <a:latin typeface="IBM Plex Mono" panose="020B0509050203000203" pitchFamily="49" charset="0"/>
              </a:rPr>
              <a:t> </a:t>
            </a:r>
            <a:r>
              <a:rPr lang="tr-TR" sz="1500" dirty="0" err="1">
                <a:latin typeface="IBM Plex Mono" panose="020B0509050203000203" pitchFamily="49" charset="0"/>
              </a:rPr>
              <a:t>Validation</a:t>
            </a:r>
            <a:endParaRPr lang="tr-TR" sz="1500" dirty="0">
              <a:latin typeface="IBM Plex Mono" panose="020B0509050203000203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500" dirty="0" err="1">
                <a:latin typeface="IBM Plex Mono" panose="020B0509050203000203" pitchFamily="49" charset="0"/>
              </a:rPr>
              <a:t>Normality</a:t>
            </a:r>
            <a:r>
              <a:rPr lang="tr-TR" sz="1500" dirty="0">
                <a:latin typeface="IBM Plex Mono" panose="020B0509050203000203" pitchFamily="49" charset="0"/>
              </a:rPr>
              <a:t>: </a:t>
            </a:r>
            <a:r>
              <a:rPr lang="tr-TR" sz="1500" dirty="0" err="1">
                <a:latin typeface="IBM Plex Mono" panose="020B0509050203000203" pitchFamily="49" charset="0"/>
              </a:rPr>
              <a:t>YES</a:t>
            </a:r>
            <a:endParaRPr lang="tr-TR" sz="1500" dirty="0">
              <a:latin typeface="IBM Plex Mono" panose="020B0509050203000203" pitchFamily="49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500" dirty="0" err="1">
                <a:latin typeface="IBM Plex Mono" panose="020B0509050203000203" pitchFamily="49" charset="0"/>
              </a:rPr>
              <a:t>Skewness</a:t>
            </a:r>
            <a:r>
              <a:rPr lang="tr-TR" sz="1500" dirty="0">
                <a:latin typeface="IBM Plex Mono" panose="020B0509050203000203" pitchFamily="49" charset="0"/>
              </a:rPr>
              <a:t>: 0.25</a:t>
            </a:r>
          </a:p>
          <a:p>
            <a:pPr marL="742950" lvl="1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tr-TR" sz="1500" dirty="0">
                <a:latin typeface="IBM Plex Mono" panose="020B0509050203000203" pitchFamily="49" charset="0"/>
              </a:rPr>
              <a:t>Kurtosis: - 0.29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500" dirty="0" err="1">
                <a:solidFill>
                  <a:srgbClr val="FF0000"/>
                </a:solidFill>
                <a:latin typeface="IBM Plex Mono" panose="020B0509050203000203" pitchFamily="49" charset="0"/>
              </a:rPr>
              <a:t>Linearity</a:t>
            </a:r>
            <a:r>
              <a:rPr lang="tr-TR" sz="1500" dirty="0">
                <a:solidFill>
                  <a:srgbClr val="FF0000"/>
                </a:solidFill>
                <a:latin typeface="IBM Plex Mono" panose="020B0509050203000203" pitchFamily="49" charset="0"/>
              </a:rPr>
              <a:t>: </a:t>
            </a:r>
            <a:r>
              <a:rPr lang="tr-TR" sz="1500" dirty="0" err="1">
                <a:solidFill>
                  <a:srgbClr val="FF0000"/>
                </a:solidFill>
                <a:latin typeface="IBM Plex Mono" panose="020B0509050203000203" pitchFamily="49" charset="0"/>
              </a:rPr>
              <a:t>seems</a:t>
            </a:r>
            <a:r>
              <a:rPr lang="tr-TR" sz="1500" dirty="0">
                <a:solidFill>
                  <a:srgbClr val="FF0000"/>
                </a:solidFill>
                <a:latin typeface="IBM Plex Mono" panose="020B0509050203000203" pitchFamily="49" charset="0"/>
              </a:rPr>
              <a:t> NOT PERFECT </a:t>
            </a:r>
            <a:r>
              <a:rPr lang="tr-TR" sz="1500" dirty="0">
                <a:latin typeface="IBM Plex Mono" panose="020B0509050203000203" pitchFamily="49" charset="0"/>
                <a:sym typeface="Wingdings" panose="05000000000000000000" pitchFamily="2" charset="2"/>
              </a:rPr>
              <a:t> </a:t>
            </a:r>
            <a:r>
              <a:rPr lang="tr-TR" sz="15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more</a:t>
            </a:r>
            <a:r>
              <a:rPr lang="tr-TR" sz="15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5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positive</a:t>
            </a:r>
            <a:r>
              <a:rPr lang="tr-TR" sz="15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5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values</a:t>
            </a:r>
            <a:r>
              <a:rPr lang="tr-TR" sz="15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5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than</a:t>
            </a:r>
            <a:r>
              <a:rPr lang="tr-TR" sz="15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5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negative</a:t>
            </a:r>
            <a:r>
              <a:rPr lang="tr-TR" sz="15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5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ones</a:t>
            </a:r>
            <a:endParaRPr lang="tr-TR" sz="1500" dirty="0">
              <a:latin typeface="IBM Plex Mono" panose="020B0509050203000203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500" dirty="0" err="1">
                <a:latin typeface="IBM Plex Mono" panose="020B0509050203000203" pitchFamily="49" charset="0"/>
              </a:rPr>
              <a:t>Independence</a:t>
            </a:r>
            <a:r>
              <a:rPr lang="tr-TR" sz="1500" dirty="0">
                <a:latin typeface="IBM Plex Mono" panose="020B0509050203000203" pitchFamily="49" charset="0"/>
              </a:rPr>
              <a:t>: </a:t>
            </a:r>
            <a:r>
              <a:rPr lang="tr-TR" sz="1500" dirty="0" err="1">
                <a:latin typeface="IBM Plex Mono" panose="020B0509050203000203" pitchFamily="49" charset="0"/>
              </a:rPr>
              <a:t>YES</a:t>
            </a:r>
            <a:endParaRPr lang="tr-TR" sz="1500" dirty="0">
              <a:latin typeface="IBM Plex Mono" panose="020B0509050203000203" pitchFamily="49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500" dirty="0" err="1">
                <a:latin typeface="IBM Plex Mono" panose="020B0509050203000203" pitchFamily="49" charset="0"/>
              </a:rPr>
              <a:t>Durbin</a:t>
            </a:r>
            <a:r>
              <a:rPr lang="tr-TR" sz="1500" dirty="0">
                <a:latin typeface="IBM Plex Mono" panose="020B0509050203000203" pitchFamily="49" charset="0"/>
              </a:rPr>
              <a:t> Watson </a:t>
            </a:r>
            <a:r>
              <a:rPr lang="tr-TR" sz="1500" dirty="0" err="1">
                <a:latin typeface="IBM Plex Mono" panose="020B0509050203000203" pitchFamily="49" charset="0"/>
              </a:rPr>
              <a:t>p_value</a:t>
            </a:r>
            <a:r>
              <a:rPr lang="tr-TR" sz="1500" dirty="0">
                <a:latin typeface="IBM Plex Mono" panose="020B0509050203000203" pitchFamily="49" charset="0"/>
              </a:rPr>
              <a:t>: 0.06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500" dirty="0" err="1">
                <a:latin typeface="IBM Plex Mono" panose="020B0509050203000203" pitchFamily="49" charset="0"/>
              </a:rPr>
              <a:t>Between</a:t>
            </a:r>
            <a:r>
              <a:rPr lang="tr-TR" sz="1500" dirty="0">
                <a:latin typeface="IBM Plex Mono" panose="020B0509050203000203" pitchFamily="49" charset="0"/>
              </a:rPr>
              <a:t> (- 0.25, 0.25)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500" dirty="0" err="1">
                <a:latin typeface="IBM Plex Mono" panose="020B0509050203000203" pitchFamily="49" charset="0"/>
              </a:rPr>
              <a:t>Equal</a:t>
            </a:r>
            <a:r>
              <a:rPr lang="tr-TR" sz="1500" dirty="0">
                <a:latin typeface="IBM Plex Mono" panose="020B0509050203000203" pitchFamily="49" charset="0"/>
              </a:rPr>
              <a:t> </a:t>
            </a:r>
            <a:r>
              <a:rPr lang="tr-TR" sz="1500" dirty="0" err="1">
                <a:latin typeface="IBM Plex Mono" panose="020B0509050203000203" pitchFamily="49" charset="0"/>
              </a:rPr>
              <a:t>Variance</a:t>
            </a:r>
            <a:r>
              <a:rPr lang="tr-TR" sz="1500" dirty="0">
                <a:latin typeface="IBM Plex Mono" panose="020B0509050203000203" pitchFamily="49" charset="0"/>
              </a:rPr>
              <a:t>: </a:t>
            </a:r>
            <a:r>
              <a:rPr lang="tr-TR" sz="1500" dirty="0" err="1">
                <a:latin typeface="IBM Plex Mono" panose="020B0509050203000203" pitchFamily="49" charset="0"/>
              </a:rPr>
              <a:t>seems</a:t>
            </a:r>
            <a:r>
              <a:rPr lang="tr-TR" sz="1500" dirty="0">
                <a:latin typeface="IBM Plex Mono" panose="020B0509050203000203" pitchFamily="49" charset="0"/>
              </a:rPr>
              <a:t> OK. 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8" name="Chart 7">
                <a:extLst>
                  <a:ext uri="{FF2B5EF4-FFF2-40B4-BE49-F238E27FC236}">
                    <a16:creationId xmlns:a16="http://schemas.microsoft.com/office/drawing/2014/main" id="{0D99FE62-323A-38BF-17E5-65B3058C2B6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855611249"/>
                  </p:ext>
                </p:extLst>
              </p:nvPr>
            </p:nvGraphicFramePr>
            <p:xfrm>
              <a:off x="645160" y="4366170"/>
              <a:ext cx="7269480" cy="2039112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8" name="Chart 7">
                <a:extLst>
                  <a:ext uri="{FF2B5EF4-FFF2-40B4-BE49-F238E27FC236}">
                    <a16:creationId xmlns:a16="http://schemas.microsoft.com/office/drawing/2014/main" id="{0D99FE62-323A-38BF-17E5-65B3058C2B6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5160" y="4366170"/>
                <a:ext cx="7269480" cy="2039112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4816782-6BF3-8B53-1DF2-20B86B0405FC}"/>
              </a:ext>
            </a:extLst>
          </p:cNvPr>
          <p:cNvSpPr txBox="1"/>
          <p:nvPr/>
        </p:nvSpPr>
        <p:spPr>
          <a:xfrm>
            <a:off x="645160" y="6451665"/>
            <a:ext cx="30235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dirty="0">
                <a:latin typeface="IBM Plex Mono" panose="020B0509050203000203" pitchFamily="49" charset="0"/>
              </a:rPr>
              <a:t>Train </a:t>
            </a:r>
            <a:r>
              <a:rPr lang="tr-TR" sz="1600" dirty="0" err="1">
                <a:latin typeface="IBM Plex Mono" panose="020B0509050203000203" pitchFamily="49" charset="0"/>
              </a:rPr>
              <a:t>Residual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Mean</a:t>
            </a:r>
            <a:r>
              <a:rPr lang="tr-TR" sz="1600" dirty="0">
                <a:latin typeface="IBM Plex Mono" panose="020B0509050203000203" pitchFamily="49" charset="0"/>
              </a:rPr>
              <a:t>: ~0</a:t>
            </a:r>
            <a:endParaRPr lang="en-US" sz="1600" dirty="0">
              <a:latin typeface="IBM Plex Mono" panose="020B0509050203000203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A67FEF-0BEA-3362-DBAA-B8BE25AFBFC3}"/>
              </a:ext>
            </a:extLst>
          </p:cNvPr>
          <p:cNvSpPr txBox="1"/>
          <p:nvPr/>
        </p:nvSpPr>
        <p:spPr>
          <a:xfrm>
            <a:off x="4869225" y="6478766"/>
            <a:ext cx="30235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dirty="0">
                <a:latin typeface="IBM Plex Mono" panose="020B0509050203000203" pitchFamily="49" charset="0"/>
              </a:rPr>
              <a:t>Test </a:t>
            </a:r>
            <a:r>
              <a:rPr lang="tr-TR" sz="1600" dirty="0" err="1">
                <a:latin typeface="IBM Plex Mono" panose="020B0509050203000203" pitchFamily="49" charset="0"/>
              </a:rPr>
              <a:t>Residual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Mean</a:t>
            </a:r>
            <a:r>
              <a:rPr lang="tr-TR" sz="1600" dirty="0">
                <a:latin typeface="IBM Plex Mono" panose="020B0509050203000203" pitchFamily="49" charset="0"/>
              </a:rPr>
              <a:t>: -53</a:t>
            </a:r>
            <a:endParaRPr lang="en-US" sz="1600" dirty="0">
              <a:latin typeface="IBM Plex Mono" panose="020B0509050203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586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F93115-1512-2A1F-384B-8812175B7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5DF27-8609-B9E9-3A04-51D432E00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VIA</a:t>
            </a:r>
            <a:r>
              <a:rPr lang="tr-TR" dirty="0"/>
              <a:t> EXCEL </a:t>
            </a:r>
            <a:r>
              <a:rPr lang="tr-TR" dirty="0" err="1"/>
              <a:t>ANALYSIS</a:t>
            </a:r>
            <a:r>
              <a:rPr lang="tr-TR" dirty="0"/>
              <a:t> </a:t>
            </a:r>
            <a:r>
              <a:rPr lang="tr-TR" dirty="0" err="1"/>
              <a:t>TOOLPAK</a:t>
            </a:r>
            <a:br>
              <a:rPr lang="tr-TR" dirty="0"/>
            </a:br>
            <a:r>
              <a:rPr lang="tr-TR" dirty="0" err="1"/>
              <a:t>REGRESSION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3714C0-A4BB-9835-746A-714CB184B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908A33-E0E0-842A-419D-A45E88AA2C56}"/>
              </a:ext>
            </a:extLst>
          </p:cNvPr>
          <p:cNvSpPr txBox="1"/>
          <p:nvPr/>
        </p:nvSpPr>
        <p:spPr>
          <a:xfrm>
            <a:off x="634358" y="1888432"/>
            <a:ext cx="2406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dirty="0">
                <a:latin typeface="IBM Plex Mono" panose="020B0509050203000203" pitchFamily="49" charset="0"/>
              </a:rPr>
              <a:t>TEST DATA</a:t>
            </a:r>
            <a:endParaRPr lang="en-US" sz="3200" dirty="0">
              <a:latin typeface="IBM Plex Mono" panose="020B0509050203000203" pitchFamily="49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5330FBC-9FAA-ECA8-992D-0F81313BF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870940"/>
              </p:ext>
            </p:extLst>
          </p:nvPr>
        </p:nvGraphicFramePr>
        <p:xfrm>
          <a:off x="646111" y="2534920"/>
          <a:ext cx="10818668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2762">
                  <a:extLst>
                    <a:ext uri="{9D8B030D-6E8A-4147-A177-3AD203B41FA5}">
                      <a16:colId xmlns:a16="http://schemas.microsoft.com/office/drawing/2014/main" val="2481862032"/>
                    </a:ext>
                  </a:extLst>
                </a:gridCol>
                <a:gridCol w="772762">
                  <a:extLst>
                    <a:ext uri="{9D8B030D-6E8A-4147-A177-3AD203B41FA5}">
                      <a16:colId xmlns:a16="http://schemas.microsoft.com/office/drawing/2014/main" val="2309792963"/>
                    </a:ext>
                  </a:extLst>
                </a:gridCol>
                <a:gridCol w="772762">
                  <a:extLst>
                    <a:ext uri="{9D8B030D-6E8A-4147-A177-3AD203B41FA5}">
                      <a16:colId xmlns:a16="http://schemas.microsoft.com/office/drawing/2014/main" val="3630023467"/>
                    </a:ext>
                  </a:extLst>
                </a:gridCol>
                <a:gridCol w="772762">
                  <a:extLst>
                    <a:ext uri="{9D8B030D-6E8A-4147-A177-3AD203B41FA5}">
                      <a16:colId xmlns:a16="http://schemas.microsoft.com/office/drawing/2014/main" val="1056735173"/>
                    </a:ext>
                  </a:extLst>
                </a:gridCol>
                <a:gridCol w="772762">
                  <a:extLst>
                    <a:ext uri="{9D8B030D-6E8A-4147-A177-3AD203B41FA5}">
                      <a16:colId xmlns:a16="http://schemas.microsoft.com/office/drawing/2014/main" val="2496378695"/>
                    </a:ext>
                  </a:extLst>
                </a:gridCol>
                <a:gridCol w="772762">
                  <a:extLst>
                    <a:ext uri="{9D8B030D-6E8A-4147-A177-3AD203B41FA5}">
                      <a16:colId xmlns:a16="http://schemas.microsoft.com/office/drawing/2014/main" val="2236747505"/>
                    </a:ext>
                  </a:extLst>
                </a:gridCol>
                <a:gridCol w="772762">
                  <a:extLst>
                    <a:ext uri="{9D8B030D-6E8A-4147-A177-3AD203B41FA5}">
                      <a16:colId xmlns:a16="http://schemas.microsoft.com/office/drawing/2014/main" val="3325344639"/>
                    </a:ext>
                  </a:extLst>
                </a:gridCol>
                <a:gridCol w="772762">
                  <a:extLst>
                    <a:ext uri="{9D8B030D-6E8A-4147-A177-3AD203B41FA5}">
                      <a16:colId xmlns:a16="http://schemas.microsoft.com/office/drawing/2014/main" val="3939381430"/>
                    </a:ext>
                  </a:extLst>
                </a:gridCol>
                <a:gridCol w="772762">
                  <a:extLst>
                    <a:ext uri="{9D8B030D-6E8A-4147-A177-3AD203B41FA5}">
                      <a16:colId xmlns:a16="http://schemas.microsoft.com/office/drawing/2014/main" val="4018249994"/>
                    </a:ext>
                  </a:extLst>
                </a:gridCol>
                <a:gridCol w="772762">
                  <a:extLst>
                    <a:ext uri="{9D8B030D-6E8A-4147-A177-3AD203B41FA5}">
                      <a16:colId xmlns:a16="http://schemas.microsoft.com/office/drawing/2014/main" val="3934465740"/>
                    </a:ext>
                  </a:extLst>
                </a:gridCol>
                <a:gridCol w="772762">
                  <a:extLst>
                    <a:ext uri="{9D8B030D-6E8A-4147-A177-3AD203B41FA5}">
                      <a16:colId xmlns:a16="http://schemas.microsoft.com/office/drawing/2014/main" val="2781470024"/>
                    </a:ext>
                  </a:extLst>
                </a:gridCol>
                <a:gridCol w="772762">
                  <a:extLst>
                    <a:ext uri="{9D8B030D-6E8A-4147-A177-3AD203B41FA5}">
                      <a16:colId xmlns:a16="http://schemas.microsoft.com/office/drawing/2014/main" val="2409079286"/>
                    </a:ext>
                  </a:extLst>
                </a:gridCol>
                <a:gridCol w="772762">
                  <a:extLst>
                    <a:ext uri="{9D8B030D-6E8A-4147-A177-3AD203B41FA5}">
                      <a16:colId xmlns:a16="http://schemas.microsoft.com/office/drawing/2014/main" val="1357375500"/>
                    </a:ext>
                  </a:extLst>
                </a:gridCol>
                <a:gridCol w="772762">
                  <a:extLst>
                    <a:ext uri="{9D8B030D-6E8A-4147-A177-3AD203B41FA5}">
                      <a16:colId xmlns:a16="http://schemas.microsoft.com/office/drawing/2014/main" val="424446130"/>
                    </a:ext>
                  </a:extLst>
                </a:gridCol>
              </a:tblGrid>
              <a:tr h="6019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month year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10-Piece Set sold units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Time in month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10-Piece Set sale price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Feb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Mar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Apr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May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Jun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Jul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Aug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Oct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Nov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Dec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753483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Jan-13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  <a:latin typeface="IBM Plex Mono" panose="020B0509050203000203" pitchFamily="49" charset="0"/>
                        </a:rPr>
                        <a:t>1069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25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$799.95 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23936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Feb-13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  <a:latin typeface="IBM Plex Mono" panose="020B0509050203000203" pitchFamily="49" charset="0"/>
                        </a:rPr>
                        <a:t>1536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26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$799.95 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681066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Mar-13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rgbClr val="FF0000"/>
                          </a:solidFill>
                          <a:effectLst/>
                          <a:latin typeface="IBM Plex Mono" panose="020B0509050203000203" pitchFamily="49" charset="0"/>
                        </a:rPr>
                        <a:t>1490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27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$799.95 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88932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CC7316A-59B8-6D1E-BF28-14F437C706C4}"/>
              </a:ext>
            </a:extLst>
          </p:cNvPr>
          <p:cNvSpPr txBox="1"/>
          <p:nvPr/>
        </p:nvSpPr>
        <p:spPr>
          <a:xfrm>
            <a:off x="6096002" y="3991639"/>
            <a:ext cx="5368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dirty="0">
                <a:latin typeface="IBM Plex Mono" panose="020B0509050203000203" pitchFamily="49" charset="0"/>
              </a:rPr>
              <a:t>TEST DATA </a:t>
            </a:r>
            <a:r>
              <a:rPr lang="tr-TR" sz="3200" dirty="0" err="1">
                <a:latin typeface="IBM Plex Mono" panose="020B0509050203000203" pitchFamily="49" charset="0"/>
              </a:rPr>
              <a:t>PREDICTIONS</a:t>
            </a:r>
            <a:endParaRPr lang="en-US" sz="3200" dirty="0">
              <a:latin typeface="IBM Plex Mono" panose="020B0509050203000203" pitchFamily="49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B3A5B8E-94BE-8645-7A53-9AEC28326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461135"/>
              </p:ext>
            </p:extLst>
          </p:nvPr>
        </p:nvGraphicFramePr>
        <p:xfrm>
          <a:off x="10029883" y="4622047"/>
          <a:ext cx="1434896" cy="883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4896">
                  <a:extLst>
                    <a:ext uri="{9D8B030D-6E8A-4147-A177-3AD203B41FA5}">
                      <a16:colId xmlns:a16="http://schemas.microsoft.com/office/drawing/2014/main" val="1374379954"/>
                    </a:ext>
                  </a:extLst>
                </a:gridCol>
              </a:tblGrid>
              <a:tr h="2944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1331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780126"/>
                  </a:ext>
                </a:extLst>
              </a:tr>
              <a:tr h="2944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1455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509136"/>
                  </a:ext>
                </a:extLst>
              </a:tr>
              <a:tr h="2944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1469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96707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6FDCDC9-EA17-61B8-85A8-979282169CDA}"/>
              </a:ext>
            </a:extLst>
          </p:cNvPr>
          <p:cNvSpPr txBox="1"/>
          <p:nvPr/>
        </p:nvSpPr>
        <p:spPr>
          <a:xfrm>
            <a:off x="602159" y="5180560"/>
            <a:ext cx="19127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dirty="0" err="1">
                <a:latin typeface="IBM Plex Mono" panose="020B0509050203000203" pitchFamily="49" charset="0"/>
              </a:rPr>
              <a:t>METRICS</a:t>
            </a:r>
            <a:endParaRPr lang="en-US" sz="3200" dirty="0">
              <a:latin typeface="IBM Plex Mono" panose="020B0509050203000203" pitchFamily="49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64A383A-2ECB-A202-0809-C647A8622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603642"/>
              </p:ext>
            </p:extLst>
          </p:nvPr>
        </p:nvGraphicFramePr>
        <p:xfrm>
          <a:off x="613910" y="5820351"/>
          <a:ext cx="1101929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645">
                  <a:extLst>
                    <a:ext uri="{9D8B030D-6E8A-4147-A177-3AD203B41FA5}">
                      <a16:colId xmlns:a16="http://schemas.microsoft.com/office/drawing/2014/main" val="2633624924"/>
                    </a:ext>
                  </a:extLst>
                </a:gridCol>
                <a:gridCol w="5509645">
                  <a:extLst>
                    <a:ext uri="{9D8B030D-6E8A-4147-A177-3AD203B41FA5}">
                      <a16:colId xmlns:a16="http://schemas.microsoft.com/office/drawing/2014/main" val="1752248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tr-TR" dirty="0" err="1">
                          <a:latin typeface="IBM Plex Mono" panose="020B0509050203000203" pitchFamily="49" charset="0"/>
                        </a:rPr>
                        <a:t>Mean</a:t>
                      </a:r>
                      <a:r>
                        <a:rPr lang="tr-TR" dirty="0">
                          <a:latin typeface="IBM Plex Mono" panose="020B0509050203000203" pitchFamily="49" charset="0"/>
                        </a:rPr>
                        <a:t> </a:t>
                      </a:r>
                      <a:r>
                        <a:rPr lang="tr-TR" dirty="0" err="1">
                          <a:latin typeface="IBM Plex Mono" panose="020B0509050203000203" pitchFamily="49" charset="0"/>
                        </a:rPr>
                        <a:t>Absolute</a:t>
                      </a:r>
                      <a:r>
                        <a:rPr lang="tr-TR" dirty="0">
                          <a:latin typeface="IBM Plex Mono" panose="020B0509050203000203" pitchFamily="49" charset="0"/>
                        </a:rPr>
                        <a:t> </a:t>
                      </a:r>
                      <a:r>
                        <a:rPr lang="tr-TR" dirty="0" err="1">
                          <a:latin typeface="IBM Plex Mono" panose="020B0509050203000203" pitchFamily="49" charset="0"/>
                        </a:rPr>
                        <a:t>Error</a:t>
                      </a:r>
                      <a:endParaRPr lang="en-US" dirty="0">
                        <a:latin typeface="IBM Plex Mono" panose="020B0509050203000203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dirty="0" err="1">
                          <a:latin typeface="IBM Plex Mono" panose="020B0509050203000203" pitchFamily="49" charset="0"/>
                        </a:rPr>
                        <a:t>Weighted</a:t>
                      </a:r>
                      <a:r>
                        <a:rPr lang="tr-TR" dirty="0">
                          <a:latin typeface="IBM Plex Mono" panose="020B0509050203000203" pitchFamily="49" charset="0"/>
                        </a:rPr>
                        <a:t> </a:t>
                      </a:r>
                      <a:r>
                        <a:rPr lang="tr-TR" dirty="0" err="1">
                          <a:latin typeface="IBM Plex Mono" panose="020B0509050203000203" pitchFamily="49" charset="0"/>
                        </a:rPr>
                        <a:t>Mean</a:t>
                      </a:r>
                      <a:r>
                        <a:rPr lang="tr-TR" dirty="0">
                          <a:latin typeface="IBM Plex Mono" panose="020B0509050203000203" pitchFamily="49" charset="0"/>
                        </a:rPr>
                        <a:t> </a:t>
                      </a:r>
                      <a:r>
                        <a:rPr lang="tr-TR" dirty="0" err="1">
                          <a:latin typeface="IBM Plex Mono" panose="020B0509050203000203" pitchFamily="49" charset="0"/>
                        </a:rPr>
                        <a:t>Absolute</a:t>
                      </a:r>
                      <a:r>
                        <a:rPr lang="tr-TR" dirty="0">
                          <a:latin typeface="IBM Plex Mono" panose="020B0509050203000203" pitchFamily="49" charset="0"/>
                        </a:rPr>
                        <a:t> </a:t>
                      </a:r>
                      <a:r>
                        <a:rPr lang="tr-TR" dirty="0" err="1">
                          <a:latin typeface="IBM Plex Mono" panose="020B0509050203000203" pitchFamily="49" charset="0"/>
                        </a:rPr>
                        <a:t>Percentage</a:t>
                      </a:r>
                      <a:r>
                        <a:rPr lang="tr-TR" dirty="0">
                          <a:latin typeface="IBM Plex Mono" panose="020B0509050203000203" pitchFamily="49" charset="0"/>
                        </a:rPr>
                        <a:t> </a:t>
                      </a:r>
                      <a:r>
                        <a:rPr lang="tr-TR" dirty="0" err="1">
                          <a:latin typeface="IBM Plex Mono" panose="020B0509050203000203" pitchFamily="49" charset="0"/>
                        </a:rPr>
                        <a:t>Error</a:t>
                      </a:r>
                      <a:endParaRPr lang="en-US" dirty="0">
                        <a:latin typeface="IBM Plex Mono" panose="020B0509050203000203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0914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tr-TR" dirty="0">
                          <a:latin typeface="IBM Plex Mono" panose="020B0509050203000203" pitchFamily="49" charset="0"/>
                        </a:rPr>
                        <a:t>121.31</a:t>
                      </a:r>
                      <a:endParaRPr lang="en-US" dirty="0">
                        <a:latin typeface="IBM Plex Mono" panose="020B0509050203000203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dirty="0">
                          <a:latin typeface="IBM Plex Mono" panose="020B0509050203000203" pitchFamily="49" charset="0"/>
                        </a:rPr>
                        <a:t>8.89%</a:t>
                      </a:r>
                      <a:endParaRPr lang="en-US" dirty="0">
                        <a:latin typeface="IBM Plex Mono" panose="020B0509050203000203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1180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2768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749BC-FF55-6CA1-5F0C-62C06DD28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6456A-6983-5971-91D1-006BEB81C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VIA</a:t>
            </a:r>
            <a:r>
              <a:rPr lang="tr-TR" dirty="0"/>
              <a:t> PYTHON, </a:t>
            </a:r>
            <a:r>
              <a:rPr lang="tr-TR" dirty="0" err="1"/>
              <a:t>SCIKIT-LEARN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STATSMODELS</a:t>
            </a:r>
            <a:r>
              <a:rPr lang="tr-TR" dirty="0"/>
              <a:t> </a:t>
            </a:r>
            <a:r>
              <a:rPr lang="tr-TR" dirty="0" err="1"/>
              <a:t>LIBRARIES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95443-531E-920F-22A0-E754F9D26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62870-15FB-4E18-8F28-D7BCA299F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813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1A0A7-B31A-45A9-F91F-52053E8BA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VIA</a:t>
            </a:r>
            <a:r>
              <a:rPr lang="tr-TR" dirty="0"/>
              <a:t> PYTHON </a:t>
            </a:r>
            <a:r>
              <a:rPr lang="tr-TR" dirty="0" err="1"/>
              <a:t>SCIKIT-LEARN</a:t>
            </a:r>
            <a:r>
              <a:rPr lang="tr-TR" dirty="0"/>
              <a:t> </a:t>
            </a:r>
            <a:r>
              <a:rPr lang="tr-TR" dirty="0" err="1"/>
              <a:t>LIBRARY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EA7F5-1004-C69B-644A-E7111D17D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7553" y="1895793"/>
            <a:ext cx="4396338" cy="576262"/>
          </a:xfrm>
        </p:spPr>
        <p:txBody>
          <a:bodyPr/>
          <a:lstStyle/>
          <a:p>
            <a:r>
              <a:rPr lang="tr-TR" dirty="0"/>
              <a:t>Data </a:t>
            </a:r>
            <a:r>
              <a:rPr lang="tr-TR" dirty="0" err="1"/>
              <a:t>Preparation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7F3FAE-8EA9-4269-BA8A-33AFC2B86B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7552" y="4399465"/>
            <a:ext cx="4396339" cy="576262"/>
          </a:xfrm>
        </p:spPr>
        <p:txBody>
          <a:bodyPr/>
          <a:lstStyle/>
          <a:p>
            <a:r>
              <a:rPr lang="tr-TR" dirty="0"/>
              <a:t>Train Test </a:t>
            </a:r>
            <a:r>
              <a:rPr lang="tr-TR" dirty="0" err="1"/>
              <a:t>Split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515A8-E152-B0F5-51F5-C395FC623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9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7584B8E-AB7F-16E1-92DC-EA9A1A15112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66431" y="4945225"/>
            <a:ext cx="7105969" cy="1828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EE398B9-B51F-E73F-0761-4F509FB694A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66431" y="2514600"/>
            <a:ext cx="7105969" cy="18288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CCE1EAD-B15F-78E8-35E7-8088A2B97F26}"/>
              </a:ext>
            </a:extLst>
          </p:cNvPr>
          <p:cNvSpPr txBox="1"/>
          <p:nvPr/>
        </p:nvSpPr>
        <p:spPr>
          <a:xfrm>
            <a:off x="7889360" y="2514600"/>
            <a:ext cx="4146696" cy="4116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200"/>
              </a:lnSpc>
            </a:pPr>
            <a:r>
              <a:rPr lang="tr-TR" sz="1600" b="1" dirty="0">
                <a:latin typeface="IBM Plex Mono" panose="020B0509050203000203" pitchFamily="49" charset="0"/>
              </a:rPr>
              <a:t>«dummy_1» </a:t>
            </a:r>
            <a:r>
              <a:rPr lang="tr-TR" sz="1600" b="1" dirty="0" err="1">
                <a:latin typeface="IBM Plex Mono" panose="020B0509050203000203" pitchFamily="49" charset="0"/>
              </a:rPr>
              <a:t>variable</a:t>
            </a:r>
            <a:r>
              <a:rPr lang="tr-TR" sz="1600" b="1" dirty="0">
                <a:latin typeface="IBM Plex Mono" panose="020B0509050203000203" pitchFamily="49" charset="0"/>
              </a:rPr>
              <a:t> </a:t>
            </a:r>
            <a:r>
              <a:rPr lang="tr-TR" sz="1600" b="1" dirty="0" err="1">
                <a:latin typeface="IBM Plex Mono" panose="020B0509050203000203" pitchFamily="49" charset="0"/>
              </a:rPr>
              <a:t>added</a:t>
            </a:r>
            <a:r>
              <a:rPr lang="tr-TR" sz="1600" b="1" dirty="0">
                <a:latin typeface="IBM Plex Mono" panose="020B0509050203000203" pitchFamily="49" charset="0"/>
              </a:rPr>
              <a:t>.</a:t>
            </a:r>
          </a:p>
          <a:p>
            <a:pPr algn="just">
              <a:lnSpc>
                <a:spcPts val="2200"/>
              </a:lnSpc>
            </a:pPr>
            <a:endParaRPr lang="tr-TR" sz="1600" dirty="0">
              <a:latin typeface="IBM Plex Mono" panose="020B0509050203000203" pitchFamily="49" charset="0"/>
            </a:endParaRP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tr-TR" sz="1600" dirty="0" err="1">
                <a:latin typeface="IBM Plex Mono" panose="020B0509050203000203" pitchFamily="49" charset="0"/>
              </a:rPr>
              <a:t>This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variable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quantify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peak</a:t>
            </a:r>
            <a:r>
              <a:rPr lang="tr-TR" sz="1600" dirty="0">
                <a:latin typeface="IBM Plex Mono" panose="020B0509050203000203" pitchFamily="49" charset="0"/>
              </a:rPr>
              <a:t>, normal, </a:t>
            </a:r>
            <a:r>
              <a:rPr lang="tr-TR" sz="1600" dirty="0" err="1">
                <a:latin typeface="IBM Plex Mono" panose="020B0509050203000203" pitchFamily="49" charset="0"/>
              </a:rPr>
              <a:t>valley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seasons</a:t>
            </a:r>
            <a:r>
              <a:rPr lang="tr-TR" sz="1600" dirty="0">
                <a:latin typeface="IBM Plex Mono" panose="020B0509050203000203" pitchFamily="49" charset="0"/>
              </a:rPr>
              <a:t> in 3 </a:t>
            </a:r>
            <a:r>
              <a:rPr lang="tr-TR" sz="1600" dirty="0" err="1">
                <a:latin typeface="IBM Plex Mono" panose="020B0509050203000203" pitchFamily="49" charset="0"/>
              </a:rPr>
              <a:t>categories</a:t>
            </a:r>
            <a:r>
              <a:rPr lang="tr-TR" sz="1600" dirty="0">
                <a:latin typeface="IBM Plex Mono" panose="020B0509050203000203" pitchFamily="49" charset="0"/>
              </a:rPr>
              <a:t>. </a:t>
            </a:r>
            <a:r>
              <a:rPr lang="tr-TR" sz="1600" dirty="0" err="1">
                <a:latin typeface="IBM Plex Mono" panose="020B0509050203000203" pitchFamily="49" charset="0"/>
              </a:rPr>
              <a:t>For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simplicity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and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accuracy</a:t>
            </a:r>
            <a:r>
              <a:rPr lang="tr-TR" sz="1600" dirty="0">
                <a:latin typeface="IBM Plex Mono" panose="020B0509050203000203" pitchFamily="49" charset="0"/>
              </a:rPr>
              <a:t>, </a:t>
            </a:r>
            <a:r>
              <a:rPr lang="tr-TR" sz="1600" dirty="0" err="1">
                <a:latin typeface="IBM Plex Mono" panose="020B0509050203000203" pitchFamily="49" charset="0"/>
              </a:rPr>
              <a:t>quantifications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are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determined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from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the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first</a:t>
            </a:r>
            <a:r>
              <a:rPr lang="tr-TR" sz="1600" dirty="0">
                <a:latin typeface="IBM Plex Mono" panose="020B0509050203000203" pitchFamily="49" charset="0"/>
              </a:rPr>
              <a:t> 12 </a:t>
            </a:r>
            <a:r>
              <a:rPr lang="tr-TR" sz="1600" dirty="0" err="1">
                <a:latin typeface="IBM Plex Mono" panose="020B0509050203000203" pitchFamily="49" charset="0"/>
              </a:rPr>
              <a:t>months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only</a:t>
            </a:r>
            <a:r>
              <a:rPr lang="tr-TR" sz="1600" dirty="0">
                <a:latin typeface="IBM Plex Mono" panose="020B0509050203000203" pitchFamily="49" charset="0"/>
              </a:rPr>
              <a:t>. </a:t>
            </a:r>
          </a:p>
          <a:p>
            <a:pPr marL="285750" indent="-285750" algn="just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tr-TR" sz="1600" dirty="0">
              <a:latin typeface="IBM Plex Mono" panose="020B0509050203000203" pitchFamily="49" charset="0"/>
            </a:endParaRP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tr-TR" sz="1600" dirty="0" err="1">
                <a:latin typeface="IBM Plex Mono" panose="020B0509050203000203" pitchFamily="49" charset="0"/>
              </a:rPr>
              <a:t>Shuffle</a:t>
            </a:r>
            <a:r>
              <a:rPr lang="tr-TR" sz="1600" dirty="0">
                <a:latin typeface="IBM Plex Mono" panose="020B0509050203000203" pitchFamily="49" charset="0"/>
              </a:rPr>
              <a:t>=</a:t>
            </a:r>
            <a:r>
              <a:rPr lang="tr-TR" sz="1600" dirty="0" err="1">
                <a:latin typeface="IBM Plex Mono" panose="020B0509050203000203" pitchFamily="49" charset="0"/>
              </a:rPr>
              <a:t>False</a:t>
            </a:r>
            <a:r>
              <a:rPr lang="tr-TR" sz="1600" dirty="0">
                <a:latin typeface="IBM Plex Mono" panose="020B0509050203000203" pitchFamily="49" charset="0"/>
              </a:rPr>
              <a:t> as </a:t>
            </a:r>
            <a:r>
              <a:rPr lang="tr-TR" sz="1600" dirty="0" err="1">
                <a:latin typeface="IBM Plex Mono" panose="020B0509050203000203" pitchFamily="49" charset="0"/>
              </a:rPr>
              <a:t>this</a:t>
            </a:r>
            <a:r>
              <a:rPr lang="tr-TR" sz="1600" dirty="0">
                <a:latin typeface="IBM Plex Mono" panose="020B0509050203000203" pitchFamily="49" charset="0"/>
              </a:rPr>
              <a:t> is a time </a:t>
            </a:r>
            <a:r>
              <a:rPr lang="tr-TR" sz="1600" dirty="0" err="1">
                <a:latin typeface="IBM Plex Mono" panose="020B0509050203000203" pitchFamily="49" charset="0"/>
              </a:rPr>
              <a:t>series</a:t>
            </a:r>
            <a:r>
              <a:rPr lang="tr-TR" sz="1600" dirty="0">
                <a:latin typeface="IBM Plex Mono" panose="020B0509050203000203" pitchFamily="49" charset="0"/>
              </a:rPr>
              <a:t> data, </a:t>
            </a:r>
            <a:r>
              <a:rPr lang="tr-TR" sz="1600" dirty="0" err="1">
                <a:latin typeface="IBM Plex Mono" panose="020B0509050203000203" pitchFamily="49" charset="0"/>
              </a:rPr>
              <a:t>we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strictly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want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the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very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last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rows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to</a:t>
            </a:r>
            <a:r>
              <a:rPr lang="tr-TR" sz="1600" dirty="0">
                <a:latin typeface="IBM Plex Mono" panose="020B0509050203000203" pitchFamily="49" charset="0"/>
              </a:rPr>
              <a:t> be in </a:t>
            </a:r>
            <a:r>
              <a:rPr lang="tr-TR" sz="1600" dirty="0" err="1">
                <a:latin typeface="IBM Plex Mono" panose="020B0509050203000203" pitchFamily="49" charset="0"/>
              </a:rPr>
              <a:t>the</a:t>
            </a:r>
            <a:r>
              <a:rPr lang="tr-TR" sz="1600" dirty="0">
                <a:latin typeface="IBM Plex Mono" panose="020B0509050203000203" pitchFamily="49" charset="0"/>
              </a:rPr>
              <a:t> test </a:t>
            </a:r>
            <a:r>
              <a:rPr lang="tr-TR" sz="1600" dirty="0" err="1">
                <a:latin typeface="IBM Plex Mono" panose="020B0509050203000203" pitchFamily="49" charset="0"/>
              </a:rPr>
              <a:t>portion</a:t>
            </a:r>
            <a:r>
              <a:rPr lang="tr-TR" sz="1600" dirty="0">
                <a:latin typeface="IBM Plex Mono" panose="020B0509050203000203" pitchFamily="49" charset="0"/>
              </a:rPr>
              <a:t>.</a:t>
            </a:r>
            <a:endParaRPr lang="en-US" sz="1600" dirty="0">
              <a:latin typeface="IBM Plex Mono" panose="020B0509050203000203" pitchFamily="49" charset="0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D14B73D5-3A51-98D4-5F9F-830628C28508}"/>
              </a:ext>
            </a:extLst>
          </p:cNvPr>
          <p:cNvSpPr txBox="1">
            <a:spLocks/>
          </p:cNvSpPr>
          <p:nvPr/>
        </p:nvSpPr>
        <p:spPr>
          <a:xfrm>
            <a:off x="7889360" y="1895793"/>
            <a:ext cx="4396338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400" b="0" i="0" kern="1200">
                <a:solidFill>
                  <a:schemeClr val="bg2">
                    <a:lumMod val="40000"/>
                    <a:lumOff val="60000"/>
                  </a:schemeClr>
                </a:solidFill>
                <a:latin typeface="IBM Plex Mono" panose="020B0509050203000203" pitchFamily="49" charset="0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/>
                </a:solidFill>
                <a:latin typeface="IBM Plex Mono" panose="020B0509050203000203" pitchFamily="49" charset="0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/>
                </a:solidFill>
                <a:latin typeface="IBM Plex Mono" panose="020B0509050203000203" pitchFamily="49" charset="0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IBM Plex Mono" panose="020B0509050203000203" pitchFamily="49" charset="0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IBM Plex Mono" panose="020B0509050203000203" pitchFamily="49" charset="0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tr-TR" dirty="0" err="1"/>
              <a:t>Remarks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451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0A9A4-0770-647A-057D-DB1A4DA7A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34C7A-30A5-442C-2563-DBF8B08A3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VIA</a:t>
            </a:r>
            <a:r>
              <a:rPr lang="tr-TR" dirty="0"/>
              <a:t> PYTHON </a:t>
            </a:r>
            <a:r>
              <a:rPr lang="tr-TR" dirty="0" err="1"/>
              <a:t>SCIKIT-LEARN</a:t>
            </a:r>
            <a:r>
              <a:rPr lang="tr-TR" dirty="0"/>
              <a:t> </a:t>
            </a:r>
            <a:r>
              <a:rPr lang="tr-TR" dirty="0" err="1"/>
              <a:t>LIBRARY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437CA-250D-D096-229A-C77A0A622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968" y="1853248"/>
            <a:ext cx="4396338" cy="576262"/>
          </a:xfrm>
        </p:spPr>
        <p:txBody>
          <a:bodyPr/>
          <a:lstStyle/>
          <a:p>
            <a:r>
              <a:rPr lang="tr-TR" dirty="0" err="1"/>
              <a:t>Pipeline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F65DC6-3CD1-84DD-6C31-50B21D474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10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A2EFD42-0C04-7E2C-F372-673259011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27695" y="1879600"/>
            <a:ext cx="4396339" cy="576262"/>
          </a:xfrm>
        </p:spPr>
        <p:txBody>
          <a:bodyPr/>
          <a:lstStyle/>
          <a:p>
            <a:r>
              <a:rPr lang="tr-TR" dirty="0" err="1"/>
              <a:t>Remarks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626EC0-56E0-C7AA-3972-079086AF604F}"/>
              </a:ext>
            </a:extLst>
          </p:cNvPr>
          <p:cNvSpPr txBox="1"/>
          <p:nvPr/>
        </p:nvSpPr>
        <p:spPr>
          <a:xfrm>
            <a:off x="6568558" y="2317660"/>
            <a:ext cx="5166360" cy="45403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tr-TR" sz="1050" dirty="0" err="1">
                <a:solidFill>
                  <a:srgbClr val="FF0000"/>
                </a:solidFill>
                <a:latin typeface="IBM Plex Mono" panose="020B0509050203000203" pitchFamily="49" charset="0"/>
              </a:rPr>
              <a:t>Imputer</a:t>
            </a:r>
            <a:r>
              <a:rPr lang="tr-TR" sz="1050" dirty="0">
                <a:solidFill>
                  <a:srgbClr val="FF0000"/>
                </a:solidFill>
                <a:latin typeface="IBM Plex Mono" panose="020B0509050203000203" pitchFamily="49" charset="0"/>
              </a:rPr>
              <a:t>: </a:t>
            </a:r>
            <a:r>
              <a:rPr lang="tr-TR" sz="1050" dirty="0">
                <a:latin typeface="IBM Plex Mono" panose="020B0509050203000203" pitchFamily="49" charset="0"/>
              </a:rPr>
              <a:t>not </a:t>
            </a:r>
            <a:r>
              <a:rPr lang="tr-TR" sz="1050" dirty="0" err="1">
                <a:latin typeface="IBM Plex Mono" panose="020B0509050203000203" pitchFamily="49" charset="0"/>
              </a:rPr>
              <a:t>used</a:t>
            </a:r>
            <a:r>
              <a:rPr lang="tr-TR" sz="1050" dirty="0">
                <a:latin typeface="IBM Plex Mono" panose="020B0509050203000203" pitchFamily="49" charset="0"/>
              </a:rPr>
              <a:t> as </a:t>
            </a:r>
            <a:r>
              <a:rPr lang="tr-TR" sz="1050" dirty="0" err="1">
                <a:latin typeface="IBM Plex Mono" panose="020B0509050203000203" pitchFamily="49" charset="0"/>
              </a:rPr>
              <a:t>growth</a:t>
            </a:r>
            <a:r>
              <a:rPr lang="tr-TR" sz="1050" dirty="0">
                <a:latin typeface="IBM Plex Mono" panose="020B0509050203000203" pitchFamily="49" charset="0"/>
              </a:rPr>
              <a:t> in </a:t>
            </a:r>
            <a:r>
              <a:rPr lang="tr-TR" sz="1050" dirty="0" err="1">
                <a:latin typeface="IBM Plex Mono" panose="020B0509050203000203" pitchFamily="49" charset="0"/>
              </a:rPr>
              <a:t>sales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envisaged</a:t>
            </a:r>
            <a:r>
              <a:rPr lang="tr-TR" sz="1050" dirty="0">
                <a:latin typeface="IBM Plex Mono" panose="020B0509050203000203" pitchFamily="49" charset="0"/>
              </a:rPr>
              <a:t>.</a:t>
            </a:r>
          </a:p>
          <a:p>
            <a:pPr marL="285750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tr-TR" sz="1050" dirty="0" err="1">
                <a:solidFill>
                  <a:srgbClr val="FF0000"/>
                </a:solidFill>
                <a:latin typeface="IBM Plex Mono" panose="020B0509050203000203" pitchFamily="49" charset="0"/>
              </a:rPr>
              <a:t>Pollynomial</a:t>
            </a:r>
            <a:r>
              <a:rPr lang="tr-TR" sz="1050" dirty="0">
                <a:solidFill>
                  <a:srgbClr val="FF0000"/>
                </a:solidFill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solidFill>
                  <a:srgbClr val="FF0000"/>
                </a:solidFill>
                <a:latin typeface="IBM Plex Mono" panose="020B0509050203000203" pitchFamily="49" charset="0"/>
              </a:rPr>
              <a:t>featuring</a:t>
            </a:r>
            <a:r>
              <a:rPr lang="tr-TR" sz="1050" dirty="0">
                <a:solidFill>
                  <a:srgbClr val="FF0000"/>
                </a:solidFill>
                <a:latin typeface="IBM Plex Mono" panose="020B0509050203000203" pitchFamily="49" charset="0"/>
              </a:rPr>
              <a:t>: </a:t>
            </a:r>
            <a:r>
              <a:rPr lang="tr-TR" sz="1050" dirty="0">
                <a:latin typeface="IBM Plex Mono" panose="020B0509050203000203" pitchFamily="49" charset="0"/>
              </a:rPr>
              <a:t>not </a:t>
            </a:r>
            <a:r>
              <a:rPr lang="tr-TR" sz="1050" dirty="0" err="1">
                <a:latin typeface="IBM Plex Mono" panose="020B0509050203000203" pitchFamily="49" charset="0"/>
              </a:rPr>
              <a:t>used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due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to</a:t>
            </a:r>
            <a:r>
              <a:rPr lang="tr-TR" sz="1050" dirty="0">
                <a:latin typeface="IBM Plex Mono" panose="020B0509050203000203" pitchFamily="49" charset="0"/>
              </a:rPr>
              <a:t> data </a:t>
            </a:r>
            <a:r>
              <a:rPr lang="tr-TR" sz="1050" dirty="0" err="1">
                <a:latin typeface="IBM Plex Mono" panose="020B0509050203000203" pitchFamily="49" charset="0"/>
              </a:rPr>
              <a:t>scarcity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and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high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dimensionality</a:t>
            </a:r>
            <a:r>
              <a:rPr lang="tr-TR" sz="1050" dirty="0">
                <a:latin typeface="IBM Plex Mono" panose="020B0509050203000203" pitchFamily="49" charset="0"/>
              </a:rPr>
              <a:t>.</a:t>
            </a:r>
          </a:p>
          <a:p>
            <a:pPr marL="285750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tr-TR" sz="1050" dirty="0" err="1">
                <a:solidFill>
                  <a:srgbClr val="FF0000"/>
                </a:solidFill>
                <a:latin typeface="IBM Plex Mono" panose="020B0509050203000203" pitchFamily="49" charset="0"/>
              </a:rPr>
              <a:t>LinearRegression</a:t>
            </a:r>
            <a:r>
              <a:rPr lang="tr-TR" sz="1050" dirty="0">
                <a:solidFill>
                  <a:srgbClr val="FF0000"/>
                </a:solidFill>
                <a:latin typeface="IBM Plex Mono" panose="020B0509050203000203" pitchFamily="49" charset="0"/>
              </a:rPr>
              <a:t>: </a:t>
            </a:r>
            <a:r>
              <a:rPr lang="tr-TR" sz="1050" dirty="0">
                <a:latin typeface="IBM Plex Mono" panose="020B0509050203000203" pitchFamily="49" charset="0"/>
              </a:rPr>
              <a:t>not </a:t>
            </a:r>
            <a:r>
              <a:rPr lang="tr-TR" sz="1050" dirty="0" err="1">
                <a:latin typeface="IBM Plex Mono" panose="020B0509050203000203" pitchFamily="49" charset="0"/>
              </a:rPr>
              <a:t>favored</a:t>
            </a:r>
            <a:r>
              <a:rPr lang="tr-TR" sz="1050" dirty="0">
                <a:latin typeface="IBM Plex Mono" panose="020B0509050203000203" pitchFamily="49" charset="0"/>
              </a:rPr>
              <a:t> as it </a:t>
            </a:r>
            <a:r>
              <a:rPr lang="tr-TR" sz="1050" dirty="0" err="1">
                <a:latin typeface="IBM Plex Mono" panose="020B0509050203000203" pitchFamily="49" charset="0"/>
              </a:rPr>
              <a:t>causes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overfitting</a:t>
            </a:r>
            <a:r>
              <a:rPr lang="tr-TR" sz="1050" dirty="0">
                <a:latin typeface="IBM Plex Mono" panose="020B0509050203000203" pitchFamily="49" charset="0"/>
              </a:rPr>
              <a:t> on </a:t>
            </a:r>
            <a:r>
              <a:rPr lang="tr-TR" sz="1050" dirty="0" err="1">
                <a:latin typeface="IBM Plex Mono" panose="020B0509050203000203" pitchFamily="49" charset="0"/>
              </a:rPr>
              <a:t>scarce</a:t>
            </a:r>
            <a:r>
              <a:rPr lang="tr-TR" sz="1050" dirty="0">
                <a:latin typeface="IBM Plex Mono" panose="020B0509050203000203" pitchFamily="49" charset="0"/>
              </a:rPr>
              <a:t> data</a:t>
            </a:r>
          </a:p>
          <a:p>
            <a:pPr marL="285750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tr-TR" sz="1050" b="1" dirty="0" err="1">
                <a:solidFill>
                  <a:srgbClr val="00B0F0"/>
                </a:solidFill>
                <a:latin typeface="IBM Plex Mono" panose="020B0509050203000203" pitchFamily="49" charset="0"/>
              </a:rPr>
              <a:t>StandardScaler</a:t>
            </a:r>
            <a:r>
              <a:rPr lang="tr-TR" sz="1050" b="1" dirty="0">
                <a:solidFill>
                  <a:srgbClr val="00B0F0"/>
                </a:solidFill>
                <a:latin typeface="IBM Plex Mono" panose="020B0509050203000203" pitchFamily="49" charset="0"/>
              </a:rPr>
              <a:t>: </a:t>
            </a:r>
            <a:r>
              <a:rPr lang="tr-TR" sz="1050" dirty="0" err="1">
                <a:latin typeface="IBM Plex Mono" panose="020B0509050203000203" pitchFamily="49" charset="0"/>
              </a:rPr>
              <a:t>used</a:t>
            </a:r>
            <a:r>
              <a:rPr lang="tr-TR" sz="1050" dirty="0">
                <a:latin typeface="IBM Plex Mono" panose="020B0509050203000203" pitchFamily="49" charset="0"/>
              </a:rPr>
              <a:t> as </a:t>
            </a:r>
            <a:r>
              <a:rPr lang="tr-TR" sz="1050" dirty="0" err="1">
                <a:latin typeface="IBM Plex Mono" panose="020B0509050203000203" pitchFamily="49" charset="0"/>
              </a:rPr>
              <a:t>value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ranges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differ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between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variables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and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LassoCV</a:t>
            </a:r>
            <a:r>
              <a:rPr lang="tr-TR" sz="1050" dirty="0">
                <a:latin typeface="IBM Plex Mono" panose="020B0509050203000203" pitchFamily="49" charset="0"/>
              </a:rPr>
              <a:t> / </a:t>
            </a:r>
            <a:r>
              <a:rPr lang="tr-TR" sz="1050" dirty="0" err="1">
                <a:latin typeface="IBM Plex Mono" panose="020B0509050203000203" pitchFamily="49" charset="0"/>
              </a:rPr>
              <a:t>RidgeCV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uses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regularization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that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stipulates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scaling</a:t>
            </a:r>
            <a:r>
              <a:rPr lang="tr-TR" sz="1050" dirty="0">
                <a:latin typeface="IBM Plex Mono" panose="020B0509050203000203" pitchFamily="49" charset="0"/>
              </a:rPr>
              <a:t>.</a:t>
            </a:r>
          </a:p>
          <a:p>
            <a:pPr marL="285750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tr-TR" sz="1050" dirty="0" err="1">
                <a:solidFill>
                  <a:srgbClr val="FF0000"/>
                </a:solidFill>
                <a:latin typeface="IBM Plex Mono" panose="020B0509050203000203" pitchFamily="49" charset="0"/>
              </a:rPr>
              <a:t>RidgeCV</a:t>
            </a:r>
            <a:r>
              <a:rPr lang="tr-TR" sz="1050" dirty="0">
                <a:solidFill>
                  <a:srgbClr val="FF0000"/>
                </a:solidFill>
                <a:latin typeface="IBM Plex Mono" panose="020B0509050203000203" pitchFamily="49" charset="0"/>
              </a:rPr>
              <a:t>: </a:t>
            </a:r>
            <a:r>
              <a:rPr lang="tr-TR" sz="1050" dirty="0">
                <a:latin typeface="IBM Plex Mono" panose="020B0509050203000203" pitchFamily="49" charset="0"/>
              </a:rPr>
              <a:t>not </a:t>
            </a:r>
            <a:r>
              <a:rPr lang="tr-TR" sz="1050" dirty="0" err="1">
                <a:latin typeface="IBM Plex Mono" panose="020B0509050203000203" pitchFamily="49" charset="0"/>
              </a:rPr>
              <a:t>favored</a:t>
            </a:r>
            <a:r>
              <a:rPr lang="tr-TR" sz="1050" dirty="0">
                <a:latin typeface="IBM Plex Mono" panose="020B0509050203000203" pitchFamily="49" charset="0"/>
              </a:rPr>
              <a:t> as ‘</a:t>
            </a:r>
            <a:r>
              <a:rPr lang="tr-TR" sz="1050" dirty="0" err="1">
                <a:latin typeface="IBM Plex Mono" panose="020B0509050203000203" pitchFamily="49" charset="0"/>
              </a:rPr>
              <a:t>zero</a:t>
            </a:r>
            <a:r>
              <a:rPr lang="tr-TR" sz="1050" dirty="0">
                <a:latin typeface="IBM Plex Mono" panose="020B0509050203000203" pitchFamily="49" charset="0"/>
              </a:rPr>
              <a:t>’ </a:t>
            </a:r>
            <a:r>
              <a:rPr lang="tr-TR" sz="1050" dirty="0" err="1">
                <a:latin typeface="IBM Plex Mono" panose="020B0509050203000203" pitchFamily="49" charset="0"/>
              </a:rPr>
              <a:t>coefficients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envisaged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for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some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categorical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variables</a:t>
            </a:r>
            <a:r>
              <a:rPr lang="tr-TR" sz="1050" dirty="0">
                <a:latin typeface="IBM Plex Mono" panose="020B0509050203000203" pitchFamily="49" charset="0"/>
              </a:rPr>
              <a:t>.</a:t>
            </a:r>
          </a:p>
          <a:p>
            <a:pPr marL="285750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tr-TR" sz="1050" b="1" dirty="0" err="1">
                <a:solidFill>
                  <a:srgbClr val="00B0F0"/>
                </a:solidFill>
                <a:latin typeface="IBM Plex Mono" panose="020B0509050203000203" pitchFamily="49" charset="0"/>
              </a:rPr>
              <a:t>TimeSeriesSplit</a:t>
            </a:r>
            <a:r>
              <a:rPr lang="tr-TR" sz="1050" b="1" dirty="0">
                <a:solidFill>
                  <a:srgbClr val="00B0F0"/>
                </a:solidFill>
                <a:latin typeface="IBM Plex Mono" panose="020B0509050203000203" pitchFamily="49" charset="0"/>
              </a:rPr>
              <a:t>: </a:t>
            </a:r>
            <a:r>
              <a:rPr lang="tr-TR" sz="1050" dirty="0" err="1">
                <a:latin typeface="IBM Plex Mono" panose="020B0509050203000203" pitchFamily="49" charset="0"/>
              </a:rPr>
              <a:t>favored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against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u="sng" dirty="0" err="1">
                <a:latin typeface="IBM Plex Mono" panose="020B0509050203000203" pitchFamily="49" charset="0"/>
              </a:rPr>
              <a:t>LeaveOneOut</a:t>
            </a:r>
            <a:r>
              <a:rPr lang="tr-TR" sz="1050" dirty="0">
                <a:latin typeface="IBM Plex Mono" panose="020B0509050203000203" pitchFamily="49" charset="0"/>
              </a:rPr>
              <a:t> as </a:t>
            </a:r>
            <a:r>
              <a:rPr lang="tr-TR" sz="1050" dirty="0" err="1">
                <a:latin typeface="IBM Plex Mono" panose="020B0509050203000203" pitchFamily="49" charset="0"/>
              </a:rPr>
              <a:t>the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latter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generates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convergence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problems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with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LassoCV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and</a:t>
            </a:r>
            <a:r>
              <a:rPr lang="tr-TR" sz="1050" dirty="0">
                <a:latin typeface="IBM Plex Mono" panose="020B0509050203000203" pitchFamily="49" charset="0"/>
              </a:rPr>
              <a:t> data at </a:t>
            </a:r>
            <a:r>
              <a:rPr lang="tr-TR" sz="1050" dirty="0" err="1">
                <a:latin typeface="IBM Plex Mono" panose="020B0509050203000203" pitchFamily="49" charset="0"/>
              </a:rPr>
              <a:t>hand</a:t>
            </a:r>
            <a:r>
              <a:rPr lang="tr-TR" sz="1050" dirty="0">
                <a:latin typeface="IBM Plex Mono" panose="020B0509050203000203" pitchFamily="49" charset="0"/>
              </a:rPr>
              <a:t> is a </a:t>
            </a:r>
            <a:r>
              <a:rPr lang="tr-TR" sz="1050" dirty="0" err="1">
                <a:latin typeface="IBM Plex Mono" panose="020B0509050203000203" pitchFamily="49" charset="0"/>
              </a:rPr>
              <a:t>real</a:t>
            </a:r>
            <a:r>
              <a:rPr lang="tr-TR" sz="1050" dirty="0">
                <a:latin typeface="IBM Plex Mono" panose="020B0509050203000203" pitchFamily="49" charset="0"/>
              </a:rPr>
              <a:t> time </a:t>
            </a:r>
            <a:r>
              <a:rPr lang="tr-TR" sz="1050" dirty="0" err="1">
                <a:latin typeface="IBM Plex Mono" panose="020B0509050203000203" pitchFamily="49" charset="0"/>
              </a:rPr>
              <a:t>series</a:t>
            </a:r>
            <a:r>
              <a:rPr lang="tr-TR" sz="1050" dirty="0">
                <a:latin typeface="IBM Plex Mono" panose="020B0509050203000203" pitchFamily="49" charset="0"/>
              </a:rPr>
              <a:t> data.</a:t>
            </a:r>
          </a:p>
          <a:p>
            <a:pPr marL="285750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tr-TR" sz="1050" dirty="0" err="1">
                <a:solidFill>
                  <a:srgbClr val="FF0000"/>
                </a:solidFill>
                <a:latin typeface="IBM Plex Mono" panose="020B0509050203000203" pitchFamily="49" charset="0"/>
              </a:rPr>
              <a:t>SelectKBest</a:t>
            </a:r>
            <a:r>
              <a:rPr lang="tr-TR" sz="1050" dirty="0">
                <a:solidFill>
                  <a:srgbClr val="FF0000"/>
                </a:solidFill>
                <a:latin typeface="IBM Plex Mono" panose="020B0509050203000203" pitchFamily="49" charset="0"/>
              </a:rPr>
              <a:t>: </a:t>
            </a:r>
            <a:r>
              <a:rPr lang="tr-TR" sz="1050" dirty="0">
                <a:latin typeface="IBM Plex Mono" panose="020B0509050203000203" pitchFamily="49" charset="0"/>
              </a:rPr>
              <a:t>not </a:t>
            </a:r>
            <a:r>
              <a:rPr lang="tr-TR" sz="1050" dirty="0" err="1">
                <a:latin typeface="IBM Plex Mono" panose="020B0509050203000203" pitchFamily="49" charset="0"/>
              </a:rPr>
              <a:t>used</a:t>
            </a:r>
            <a:r>
              <a:rPr lang="tr-TR" sz="1050" dirty="0">
                <a:latin typeface="IBM Plex Mono" panose="020B0509050203000203" pitchFamily="49" charset="0"/>
              </a:rPr>
              <a:t> as </a:t>
            </a:r>
            <a:r>
              <a:rPr lang="tr-TR" sz="1050" dirty="0" err="1">
                <a:latin typeface="IBM Plex Mono" panose="020B0509050203000203" pitchFamily="49" charset="0"/>
              </a:rPr>
              <a:t>all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categorical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variables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desired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to</a:t>
            </a:r>
            <a:r>
              <a:rPr lang="tr-TR" sz="1050" dirty="0">
                <a:latin typeface="IBM Plex Mono" panose="020B0509050203000203" pitchFamily="49" charset="0"/>
              </a:rPr>
              <a:t> be </a:t>
            </a:r>
            <a:r>
              <a:rPr lang="tr-TR" sz="1050" dirty="0" err="1">
                <a:latin typeface="IBM Plex Mono" panose="020B0509050203000203" pitchFamily="49" charset="0"/>
              </a:rPr>
              <a:t>included</a:t>
            </a:r>
            <a:r>
              <a:rPr lang="tr-TR" sz="1050" dirty="0">
                <a:latin typeface="IBM Plex Mono" panose="020B0509050203000203" pitchFamily="49" charset="0"/>
              </a:rPr>
              <a:t> at </a:t>
            </a:r>
            <a:r>
              <a:rPr lang="tr-TR" sz="1050" dirty="0" err="1">
                <a:latin typeface="IBM Plex Mono" panose="020B0509050203000203" pitchFamily="49" charset="0"/>
              </a:rPr>
              <a:t>the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beginning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and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conformity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with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excel</a:t>
            </a:r>
            <a:r>
              <a:rPr lang="tr-TR" sz="1050" dirty="0">
                <a:latin typeface="IBM Plex Mono" panose="020B0509050203000203" pitchFamily="49" charset="0"/>
              </a:rPr>
              <a:t> </a:t>
            </a:r>
            <a:r>
              <a:rPr lang="tr-TR" sz="1050" dirty="0" err="1">
                <a:latin typeface="IBM Plex Mono" panose="020B0509050203000203" pitchFamily="49" charset="0"/>
              </a:rPr>
              <a:t>solution</a:t>
            </a:r>
            <a:r>
              <a:rPr lang="tr-TR" sz="1050" dirty="0">
                <a:latin typeface="IBM Plex Mono" panose="020B0509050203000203" pitchFamily="49" charset="0"/>
              </a:rPr>
              <a:t>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906AF1E-0CFB-99ED-F1A8-8CBDE49ED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66" y="2440623"/>
            <a:ext cx="5692076" cy="426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217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350C5-A9A6-7E8D-7A66-0D5731B93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6A162-1A90-4CB5-E5D4-8A8259003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VIA</a:t>
            </a:r>
            <a:r>
              <a:rPr lang="tr-TR" dirty="0"/>
              <a:t> PYTHON </a:t>
            </a:r>
            <a:r>
              <a:rPr lang="tr-TR" dirty="0" err="1"/>
              <a:t>SCIKIT-LEARN</a:t>
            </a:r>
            <a:r>
              <a:rPr lang="tr-TR" dirty="0"/>
              <a:t> </a:t>
            </a:r>
            <a:r>
              <a:rPr lang="tr-TR" dirty="0" err="1"/>
              <a:t>LIBRARY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C6643-CF64-AFB0-2D67-5571BD55A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968" y="1900392"/>
            <a:ext cx="4396338" cy="576262"/>
          </a:xfrm>
        </p:spPr>
        <p:txBody>
          <a:bodyPr/>
          <a:lstStyle/>
          <a:p>
            <a:r>
              <a:rPr lang="tr-TR" dirty="0"/>
              <a:t>Fit – </a:t>
            </a:r>
            <a:r>
              <a:rPr lang="tr-TR" dirty="0" err="1"/>
              <a:t>Predict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770DF-6569-D5AA-AF33-473A4F6B6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11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A5178D-DB11-E4A2-EEA2-F613ACD7A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27693" y="1900392"/>
            <a:ext cx="4396339" cy="576262"/>
          </a:xfrm>
        </p:spPr>
        <p:txBody>
          <a:bodyPr/>
          <a:lstStyle/>
          <a:p>
            <a:r>
              <a:rPr lang="tr-TR" dirty="0" err="1"/>
              <a:t>Remarks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FCD990-A048-809F-583A-F6EFF4260429}"/>
              </a:ext>
            </a:extLst>
          </p:cNvPr>
          <p:cNvSpPr txBox="1"/>
          <p:nvPr/>
        </p:nvSpPr>
        <p:spPr>
          <a:xfrm>
            <a:off x="6024880" y="2523799"/>
            <a:ext cx="3406199" cy="28031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>
                <a:solidFill>
                  <a:srgbClr val="FF0000"/>
                </a:solidFill>
                <a:latin typeface="IBM Plex Mono" panose="020B0509050203000203" pitchFamily="49" charset="0"/>
              </a:rPr>
              <a:t>Train R </a:t>
            </a:r>
            <a:r>
              <a:rPr lang="tr-TR" sz="1400" dirty="0" err="1">
                <a:solidFill>
                  <a:srgbClr val="FF0000"/>
                </a:solidFill>
                <a:latin typeface="IBM Plex Mono" panose="020B0509050203000203" pitchFamily="49" charset="0"/>
              </a:rPr>
              <a:t>square</a:t>
            </a:r>
            <a:r>
              <a:rPr lang="tr-TR" sz="1400" dirty="0">
                <a:solidFill>
                  <a:srgbClr val="FF0000"/>
                </a:solidFill>
                <a:latin typeface="IBM Plex Mono" panose="020B0509050203000203" pitchFamily="49" charset="0"/>
              </a:rPr>
              <a:t> is 95.02%.</a:t>
            </a:r>
            <a:endParaRPr lang="en-US" sz="1400" dirty="0">
              <a:solidFill>
                <a:srgbClr val="FF0000"/>
              </a:solidFill>
              <a:latin typeface="IBM Plex Mono" panose="020B0509050203000203" pitchFamily="49" charset="0"/>
            </a:endParaRPr>
          </a:p>
          <a:p>
            <a:pPr marL="285750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tr-TR" sz="1400" dirty="0">
                <a:solidFill>
                  <a:srgbClr val="FF0000"/>
                </a:solidFill>
                <a:latin typeface="IBM Plex Mono" panose="020B0509050203000203" pitchFamily="49" charset="0"/>
              </a:rPr>
              <a:t>Best </a:t>
            </a:r>
            <a:r>
              <a:rPr lang="tr-TR" sz="1400" dirty="0" err="1">
                <a:solidFill>
                  <a:srgbClr val="FF0000"/>
                </a:solidFill>
                <a:latin typeface="IBM Plex Mono" panose="020B0509050203000203" pitchFamily="49" charset="0"/>
              </a:rPr>
              <a:t>alpha</a:t>
            </a:r>
            <a:r>
              <a:rPr lang="tr-TR" sz="1400" dirty="0">
                <a:solidFill>
                  <a:srgbClr val="FF0000"/>
                </a:solidFill>
                <a:latin typeface="IBM Plex Mono" panose="020B0509050203000203" pitchFamily="49" charset="0"/>
              </a:rPr>
              <a:t>: </a:t>
            </a:r>
            <a:r>
              <a:rPr lang="tr-TR" sz="1400" dirty="0">
                <a:latin typeface="IBM Plex Mono" panose="020B0509050203000203" pitchFamily="49" charset="0"/>
              </a:rPr>
              <a:t>0.01, </a:t>
            </a:r>
            <a:r>
              <a:rPr lang="tr-TR" sz="1400" dirty="0" err="1">
                <a:latin typeface="IBM Plex Mono" panose="020B0509050203000203" pitchFamily="49" charset="0"/>
              </a:rPr>
              <a:t>meaning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the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regularization</a:t>
            </a:r>
            <a:r>
              <a:rPr lang="tr-TR" sz="1400" dirty="0">
                <a:latin typeface="IBM Plex Mono" panose="020B0509050203000203" pitchFamily="49" charset="0"/>
              </a:rPr>
              <a:t> is </a:t>
            </a:r>
            <a:r>
              <a:rPr lang="tr-TR" sz="1400" dirty="0" err="1">
                <a:latin typeface="IBM Plex Mono" panose="020B0509050203000203" pitchFamily="49" charset="0"/>
              </a:rPr>
              <a:t>small</a:t>
            </a:r>
            <a:r>
              <a:rPr lang="tr-TR" sz="1400" dirty="0">
                <a:latin typeface="IBM Plex Mono" panose="020B0509050203000203" pitchFamily="49" charset="0"/>
              </a:rPr>
              <a:t>.</a:t>
            </a:r>
          </a:p>
          <a:p>
            <a:pPr marL="285750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tr-TR" sz="1400" dirty="0" err="1">
                <a:solidFill>
                  <a:srgbClr val="FF0000"/>
                </a:solidFill>
                <a:latin typeface="IBM Plex Mono" panose="020B0509050203000203" pitchFamily="49" charset="0"/>
              </a:rPr>
              <a:t>Nov</a:t>
            </a:r>
            <a:r>
              <a:rPr lang="tr-TR" sz="1400" dirty="0">
                <a:solidFill>
                  <a:srgbClr val="FF0000"/>
                </a:solidFill>
                <a:latin typeface="IBM Plex Mono" panose="020B0509050203000203" pitchFamily="49" charset="0"/>
              </a:rPr>
              <a:t>, </a:t>
            </a:r>
            <a:r>
              <a:rPr lang="tr-TR" sz="1400" dirty="0" err="1">
                <a:solidFill>
                  <a:srgbClr val="FF0000"/>
                </a:solidFill>
                <a:latin typeface="IBM Plex Mono" panose="020B0509050203000203" pitchFamily="49" charset="0"/>
              </a:rPr>
              <a:t>Oct</a:t>
            </a:r>
            <a:r>
              <a:rPr lang="tr-TR" sz="1400" dirty="0">
                <a:solidFill>
                  <a:srgbClr val="FF0000"/>
                </a:solidFill>
                <a:latin typeface="IBM Plex Mono" panose="020B0509050203000203" pitchFamily="49" charset="0"/>
              </a:rPr>
              <a:t> 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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visible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from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coefficients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that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the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demand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is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high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.</a:t>
            </a:r>
          </a:p>
          <a:p>
            <a:pPr marL="285750" indent="-285750"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tr-TR" sz="1400" dirty="0" err="1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Price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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price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is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more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influential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than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Nov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,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Oct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.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E452C3A-DBD5-8001-87DD-DFE04F419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932802"/>
              </p:ext>
            </p:extLst>
          </p:nvPr>
        </p:nvGraphicFramePr>
        <p:xfrm>
          <a:off x="9577540" y="2523799"/>
          <a:ext cx="2388198" cy="3962400"/>
        </p:xfrm>
        <a:graphic>
          <a:graphicData uri="http://schemas.openxmlformats.org/drawingml/2006/table">
            <a:tbl>
              <a:tblPr/>
              <a:tblGrid>
                <a:gridCol w="1194099">
                  <a:extLst>
                    <a:ext uri="{9D8B030D-6E8A-4147-A177-3AD203B41FA5}">
                      <a16:colId xmlns:a16="http://schemas.microsoft.com/office/drawing/2014/main" val="3163304781"/>
                    </a:ext>
                  </a:extLst>
                </a:gridCol>
                <a:gridCol w="1194099">
                  <a:extLst>
                    <a:ext uri="{9D8B030D-6E8A-4147-A177-3AD203B41FA5}">
                      <a16:colId xmlns:a16="http://schemas.microsoft.com/office/drawing/2014/main" val="4072257764"/>
                    </a:ext>
                  </a:extLst>
                </a:gridCol>
              </a:tblGrid>
              <a:tr h="249468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1" i="0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tr-TR" sz="1100" b="1" i="0" dirty="0" err="1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Coefficient</a:t>
                      </a:r>
                      <a:endParaRPr lang="en-US" sz="1100" b="1" i="0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44458"/>
                  </a:ext>
                </a:extLst>
              </a:tr>
              <a:tr h="234521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Time in month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102.731527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4636562"/>
                  </a:ext>
                </a:extLst>
              </a:tr>
              <a:tr h="381097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10-Piece Set sale price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-245.681800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868629"/>
                  </a:ext>
                </a:extLst>
              </a:tr>
              <a:tr h="234521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Feb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38.436457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951766"/>
                  </a:ext>
                </a:extLst>
              </a:tr>
              <a:tr h="234521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Mar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29.114520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51803"/>
                  </a:ext>
                </a:extLst>
              </a:tr>
              <a:tr h="234521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Apr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37.173605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444699"/>
                  </a:ext>
                </a:extLst>
              </a:tr>
              <a:tr h="234521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May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0.458259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033553"/>
                  </a:ext>
                </a:extLst>
              </a:tr>
              <a:tr h="234521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Jun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-36.269958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033711"/>
                  </a:ext>
                </a:extLst>
              </a:tr>
              <a:tr h="234521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Jul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-15.358889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841673"/>
                  </a:ext>
                </a:extLst>
              </a:tr>
              <a:tr h="234521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Aug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2.801206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370328"/>
                  </a:ext>
                </a:extLst>
              </a:tr>
              <a:tr h="234521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Oct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62.360829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085562"/>
                  </a:ext>
                </a:extLst>
              </a:tr>
              <a:tr h="234521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Nov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80.507910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225012"/>
                  </a:ext>
                </a:extLst>
              </a:tr>
              <a:tr h="234521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Dec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-15.228663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7997076"/>
                  </a:ext>
                </a:extLst>
              </a:tr>
              <a:tr h="234521"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dummy_1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fontAlgn="ctr">
                        <a:buNone/>
                      </a:pPr>
                      <a:r>
                        <a:rPr lang="en-US" sz="1100" b="0" i="0" dirty="0">
                          <a:effectLst/>
                          <a:latin typeface="IBM Plex Mono" panose="020B0509050203000203" pitchFamily="49" charset="0"/>
                        </a:rPr>
                        <a:t>24.969061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32844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46432702-CFF0-F3D8-8050-59FCC221F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2523799"/>
            <a:ext cx="5161156" cy="408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742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B5B97-B979-5A1B-96E6-9CD19EE5E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27FFF-C5BD-64F1-54C6-3D51771A1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VIA</a:t>
            </a:r>
            <a:r>
              <a:rPr lang="tr-TR" dirty="0"/>
              <a:t> PYTHON </a:t>
            </a:r>
            <a:r>
              <a:rPr lang="tr-TR" dirty="0" err="1"/>
              <a:t>SCIKIT-LEARN</a:t>
            </a:r>
            <a:r>
              <a:rPr lang="tr-TR" dirty="0"/>
              <a:t> </a:t>
            </a:r>
            <a:r>
              <a:rPr lang="tr-TR" dirty="0" err="1"/>
              <a:t>LIBRARY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7E3C14-0204-8FC9-EB60-826DDE6F3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12</a:t>
            </a:fld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4029A27-D271-1ADE-15BD-68131220480B}"/>
              </a:ext>
            </a:extLst>
          </p:cNvPr>
          <p:cNvSpPr txBox="1">
            <a:spLocks/>
          </p:cNvSpPr>
          <p:nvPr/>
        </p:nvSpPr>
        <p:spPr>
          <a:xfrm>
            <a:off x="646111" y="1884680"/>
            <a:ext cx="8947522" cy="5762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IBM Plex Mono" panose="020B0509050203000203" pitchFamily="49" charset="0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IBM Plex Mono" panose="020B0509050203000203" pitchFamily="49" charset="0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IBM Plex Mono" panose="020B0509050203000203" pitchFamily="49" charset="0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IBM Plex Mono" panose="020B0509050203000203" pitchFamily="49" charset="0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IBM Plex Mono" panose="020B0509050203000203" pitchFamily="49" charset="0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tr-TR" sz="2400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Target</a:t>
            </a:r>
            <a:r>
              <a:rPr lang="tr-TR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tr-TR" sz="2400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and</a:t>
            </a:r>
            <a:r>
              <a:rPr lang="tr-TR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tr-TR" sz="2400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Pred</a:t>
            </a:r>
            <a:r>
              <a:rPr lang="tr-TR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Distribution: </a:t>
            </a:r>
            <a:r>
              <a:rPr lang="tr-TR" sz="2400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training</a:t>
            </a:r>
            <a:r>
              <a:rPr lang="tr-TR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data</a:t>
            </a:r>
            <a:endParaRPr lang="en-US" sz="24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290FBC-45B5-2A15-1DD8-0D37B07130A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0" y="2477134"/>
            <a:ext cx="5368609" cy="411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A02FDF-C0EE-08E4-E58F-7FAF41825FE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61274" y="2477134"/>
            <a:ext cx="5368609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339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40BD6-9066-B4A1-439A-BF16B2236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1CACF-A3DD-8180-FF8A-A5E5BF6B5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VIA</a:t>
            </a:r>
            <a:r>
              <a:rPr lang="tr-TR" dirty="0"/>
              <a:t> PYTHON </a:t>
            </a:r>
            <a:r>
              <a:rPr lang="tr-TR" dirty="0" err="1"/>
              <a:t>SCIKIT-LEARN</a:t>
            </a:r>
            <a:r>
              <a:rPr lang="tr-TR" dirty="0"/>
              <a:t> </a:t>
            </a:r>
            <a:r>
              <a:rPr lang="tr-TR" dirty="0" err="1"/>
              <a:t>LIBRARY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730D1-EB05-2979-0113-89977A594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968" y="1904520"/>
            <a:ext cx="4396338" cy="576262"/>
          </a:xfrm>
        </p:spPr>
        <p:txBody>
          <a:bodyPr/>
          <a:lstStyle/>
          <a:p>
            <a:r>
              <a:rPr lang="tr-TR" dirty="0" err="1"/>
              <a:t>Residuals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50115-FDBB-73EB-D953-E13FEFEB0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13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F1BAFD-E862-5D3B-01F2-ADB4EB175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27695" y="1879600"/>
            <a:ext cx="4396339" cy="576262"/>
          </a:xfrm>
        </p:spPr>
        <p:txBody>
          <a:bodyPr/>
          <a:lstStyle/>
          <a:p>
            <a:r>
              <a:rPr lang="tr-TR" dirty="0" err="1"/>
              <a:t>Remarks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20E4BF-7D81-B2C3-4A73-878A92E28859}"/>
              </a:ext>
            </a:extLst>
          </p:cNvPr>
          <p:cNvSpPr txBox="1"/>
          <p:nvPr/>
        </p:nvSpPr>
        <p:spPr>
          <a:xfrm>
            <a:off x="6776719" y="2523799"/>
            <a:ext cx="4856481" cy="315564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dirty="0" err="1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Residuals</a:t>
            </a:r>
            <a:r>
              <a:rPr lang="tr-TR" sz="1600" dirty="0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 (test) </a:t>
            </a:r>
            <a:r>
              <a:rPr lang="tr-TR" sz="1600" dirty="0" err="1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mean</a:t>
            </a:r>
            <a:r>
              <a:rPr lang="tr-TR" sz="1600" dirty="0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: </a:t>
            </a:r>
            <a:r>
              <a:rPr lang="tr-TR" sz="1600" dirty="0" err="1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problematic</a:t>
            </a:r>
            <a:r>
              <a:rPr lang="tr-TR" sz="1600" dirty="0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,</a:t>
            </a:r>
            <a:r>
              <a:rPr lang="tr-TR" sz="16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6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distant</a:t>
            </a:r>
            <a:r>
              <a:rPr lang="tr-TR" sz="16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6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from</a:t>
            </a:r>
            <a:r>
              <a:rPr lang="tr-TR" sz="1600" dirty="0">
                <a:latin typeface="IBM Plex Mono" panose="020B0509050203000203" pitchFamily="49" charset="0"/>
                <a:sym typeface="Wingdings" panose="05000000000000000000" pitchFamily="2" charset="2"/>
              </a:rPr>
              <a:t> 0. But </a:t>
            </a:r>
            <a:r>
              <a:rPr lang="tr-TR" sz="16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that’s</a:t>
            </a:r>
            <a:r>
              <a:rPr lang="tr-TR" sz="1600" dirty="0">
                <a:latin typeface="IBM Plex Mono" panose="020B0509050203000203" pitchFamily="49" charset="0"/>
                <a:sym typeface="Wingdings" panose="05000000000000000000" pitchFamily="2" charset="2"/>
              </a:rPr>
              <a:t> normal </a:t>
            </a:r>
            <a:r>
              <a:rPr lang="tr-TR" sz="16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with</a:t>
            </a:r>
            <a:r>
              <a:rPr lang="tr-TR" sz="16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6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scarce</a:t>
            </a:r>
            <a:r>
              <a:rPr lang="tr-TR" sz="16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6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training</a:t>
            </a:r>
            <a:r>
              <a:rPr lang="tr-TR" sz="16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6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and</a:t>
            </a:r>
            <a:r>
              <a:rPr lang="tr-TR" sz="16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6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scarce</a:t>
            </a:r>
            <a:r>
              <a:rPr lang="tr-TR" sz="1600" dirty="0">
                <a:latin typeface="IBM Plex Mono" panose="020B0509050203000203" pitchFamily="49" charset="0"/>
                <a:sym typeface="Wingdings" panose="05000000000000000000" pitchFamily="2" charset="2"/>
              </a:rPr>
              <a:t> test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Residuals</a:t>
            </a:r>
            <a:r>
              <a:rPr lang="tr-TR" sz="1600" dirty="0">
                <a:latin typeface="IBM Plex Mono" panose="020B0509050203000203" pitchFamily="49" charset="0"/>
                <a:sym typeface="Wingdings" panose="05000000000000000000" pitchFamily="2" charset="2"/>
              </a:rPr>
              <a:t> (</a:t>
            </a:r>
            <a:r>
              <a:rPr lang="tr-TR" sz="16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train</a:t>
            </a:r>
            <a:r>
              <a:rPr lang="tr-TR" sz="1600" dirty="0">
                <a:latin typeface="IBM Plex Mono" panose="020B0509050203000203" pitchFamily="49" charset="0"/>
                <a:sym typeface="Wingdings" panose="05000000000000000000" pitchFamily="2" charset="2"/>
              </a:rPr>
              <a:t>) </a:t>
            </a:r>
            <a:r>
              <a:rPr lang="tr-TR" sz="16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mean</a:t>
            </a:r>
            <a:r>
              <a:rPr lang="tr-TR" sz="1600" dirty="0">
                <a:latin typeface="IBM Plex Mono" panose="020B0509050203000203" pitchFamily="49" charset="0"/>
                <a:sym typeface="Wingdings" panose="05000000000000000000" pitchFamily="2" charset="2"/>
              </a:rPr>
              <a:t>: OK!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dirty="0">
                <a:solidFill>
                  <a:srgbClr val="FF0000"/>
                </a:solidFill>
                <a:latin typeface="IBM Plex Mono" panose="020B0509050203000203" pitchFamily="49" charset="0"/>
              </a:rPr>
              <a:t>Test R </a:t>
            </a:r>
            <a:r>
              <a:rPr lang="tr-TR" sz="1600" dirty="0" err="1">
                <a:solidFill>
                  <a:srgbClr val="FF0000"/>
                </a:solidFill>
                <a:latin typeface="IBM Plex Mono" panose="020B0509050203000203" pitchFamily="49" charset="0"/>
              </a:rPr>
              <a:t>square</a:t>
            </a:r>
            <a:r>
              <a:rPr lang="tr-TR" sz="1600" dirty="0">
                <a:solidFill>
                  <a:srgbClr val="FF0000"/>
                </a:solidFill>
                <a:latin typeface="IBM Plex Mono" panose="020B0509050203000203" pitchFamily="49" charset="0"/>
              </a:rPr>
              <a:t> is 54.90%.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dirty="0">
                <a:latin typeface="IBM Plex Mono" panose="020B0509050203000203" pitchFamily="49" charset="0"/>
              </a:rPr>
              <a:t>Normal </a:t>
            </a:r>
            <a:r>
              <a:rPr lang="tr-TR" sz="1600" dirty="0" err="1">
                <a:latin typeface="IBM Plex Mono" panose="020B0509050203000203" pitchFamily="49" charset="0"/>
              </a:rPr>
              <a:t>with</a:t>
            </a:r>
            <a:r>
              <a:rPr lang="tr-TR" sz="1600" dirty="0">
                <a:latin typeface="IBM Plex Mono" panose="020B0509050203000203" pitchFamily="49" charset="0"/>
              </a:rPr>
              <a:t> </a:t>
            </a:r>
            <a:r>
              <a:rPr lang="tr-TR" sz="1600" dirty="0" err="1">
                <a:latin typeface="IBM Plex Mono" panose="020B0509050203000203" pitchFamily="49" charset="0"/>
              </a:rPr>
              <a:t>scarce</a:t>
            </a:r>
            <a:r>
              <a:rPr lang="tr-TR" sz="1600" dirty="0">
                <a:latin typeface="IBM Plex Mono" panose="020B0509050203000203" pitchFamily="49" charset="0"/>
              </a:rPr>
              <a:t> test data.</a:t>
            </a:r>
            <a:endParaRPr lang="en-US" sz="1600" dirty="0">
              <a:latin typeface="IBM Plex Mono" panose="020B0509050203000203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20C2EF-F5EF-3D13-04A6-2E5D023AB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2523799"/>
            <a:ext cx="6035040" cy="393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26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80B79-CB79-481E-937A-18ADAFA29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EF83C-4F1E-EDFC-2D89-2C4276BAC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VIA</a:t>
            </a:r>
            <a:r>
              <a:rPr lang="tr-TR" dirty="0"/>
              <a:t> PYTHON </a:t>
            </a:r>
            <a:r>
              <a:rPr lang="tr-TR" dirty="0" err="1"/>
              <a:t>SCIKIT-LEARN</a:t>
            </a:r>
            <a:r>
              <a:rPr lang="tr-TR" dirty="0"/>
              <a:t> </a:t>
            </a:r>
            <a:r>
              <a:rPr lang="tr-TR" dirty="0" err="1"/>
              <a:t>LIBRARY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D00ED-F404-FAB7-4B27-35D631D37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891114"/>
            <a:ext cx="4992687" cy="576262"/>
          </a:xfrm>
        </p:spPr>
        <p:txBody>
          <a:bodyPr/>
          <a:lstStyle/>
          <a:p>
            <a:r>
              <a:rPr lang="tr-TR" dirty="0" err="1"/>
              <a:t>Residuals</a:t>
            </a:r>
            <a:r>
              <a:rPr lang="tr-TR" dirty="0"/>
              <a:t> – </a:t>
            </a:r>
            <a:r>
              <a:rPr lang="tr-TR" dirty="0" err="1"/>
              <a:t>validation</a:t>
            </a:r>
            <a:r>
              <a:rPr lang="tr-TR" dirty="0"/>
              <a:t> -1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850C8-470A-A162-686C-076E50924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14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3FFCD0-0D93-6915-9323-25FCBE3D32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27695" y="1879600"/>
            <a:ext cx="4396339" cy="576262"/>
          </a:xfrm>
        </p:spPr>
        <p:txBody>
          <a:bodyPr/>
          <a:lstStyle/>
          <a:p>
            <a:r>
              <a:rPr lang="tr-TR" dirty="0" err="1"/>
              <a:t>Remarks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A0BFB-2A73-472F-27FE-5CA0DDE4C8FA}"/>
              </a:ext>
            </a:extLst>
          </p:cNvPr>
          <p:cNvSpPr txBox="1"/>
          <p:nvPr/>
        </p:nvSpPr>
        <p:spPr>
          <a:xfrm>
            <a:off x="6959600" y="2505243"/>
            <a:ext cx="4917440" cy="3863987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pPr algn="just">
              <a:lnSpc>
                <a:spcPts val="2500"/>
              </a:lnSpc>
            </a:pPr>
            <a:r>
              <a:rPr lang="tr-TR" sz="1400" b="1" dirty="0" err="1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Validation</a:t>
            </a:r>
            <a:r>
              <a:rPr lang="tr-TR" sz="1400" b="1" dirty="0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b="1" dirty="0" err="1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from</a:t>
            </a:r>
            <a:r>
              <a:rPr lang="tr-TR" sz="1400" b="1" dirty="0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b="1" dirty="0" err="1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the</a:t>
            </a:r>
            <a:r>
              <a:rPr lang="tr-TR" sz="1400" b="1" dirty="0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b="1" dirty="0" err="1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plot</a:t>
            </a:r>
            <a:r>
              <a:rPr lang="tr-TR" sz="1400" b="1" dirty="0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b="1" dirty="0" err="1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ONLY</a:t>
            </a:r>
            <a:r>
              <a:rPr lang="tr-TR" sz="1400" b="1" dirty="0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:</a:t>
            </a:r>
          </a:p>
          <a:p>
            <a:pPr marL="171450" indent="-1714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tr-TR" sz="1400" b="1" u="sng" dirty="0" err="1">
                <a:latin typeface="IBM Plex Mono" panose="020B0509050203000203" pitchFamily="49" charset="0"/>
              </a:rPr>
              <a:t>Normality</a:t>
            </a:r>
            <a:r>
              <a:rPr lang="tr-TR" sz="1400" b="1" u="sng" dirty="0">
                <a:latin typeface="IBM Plex Mono" panose="020B0509050203000203" pitchFamily="49" charset="0"/>
              </a:rPr>
              <a:t>:</a:t>
            </a:r>
            <a:r>
              <a:rPr lang="tr-TR" sz="1400" b="1" dirty="0">
                <a:latin typeface="IBM Plex Mono" panose="020B0509050203000203" pitchFamily="49" charset="0"/>
              </a:rPr>
              <a:t> </a:t>
            </a:r>
            <a:r>
              <a:rPr lang="tr-TR" sz="1400" dirty="0">
                <a:latin typeface="IBM Plex Mono" panose="020B0509050203000203" pitchFamily="49" charset="0"/>
              </a:rPr>
              <a:t>data </a:t>
            </a:r>
            <a:r>
              <a:rPr lang="tr-TR" sz="1400" dirty="0" err="1">
                <a:latin typeface="IBM Plex Mono" panose="020B0509050203000203" pitchFamily="49" charset="0"/>
              </a:rPr>
              <a:t>points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close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to</a:t>
            </a:r>
            <a:r>
              <a:rPr lang="tr-TR" sz="1400" dirty="0">
                <a:latin typeface="IBM Plex Mono" panose="020B0509050203000203" pitchFamily="49" charset="0"/>
              </a:rPr>
              <a:t> 0 </a:t>
            </a:r>
            <a:r>
              <a:rPr lang="tr-TR" sz="1400" dirty="0" err="1">
                <a:latin typeface="IBM Plex Mono" panose="020B0509050203000203" pitchFamily="49" charset="0"/>
              </a:rPr>
              <a:t>are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more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congested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than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the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others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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seems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OK!</a:t>
            </a:r>
          </a:p>
          <a:p>
            <a:pPr marL="171450" indent="-1714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tr-TR" sz="1400" b="1" u="sng" dirty="0" err="1">
                <a:latin typeface="IBM Plex Mono" panose="020B0509050203000203" pitchFamily="49" charset="0"/>
                <a:sym typeface="Wingdings" panose="05000000000000000000" pitchFamily="2" charset="2"/>
              </a:rPr>
              <a:t>Linearity</a:t>
            </a:r>
            <a:r>
              <a:rPr lang="tr-TR" sz="1400" b="1" u="sng" dirty="0">
                <a:latin typeface="IBM Plex Mono" panose="020B0509050203000203" pitchFamily="49" charset="0"/>
                <a:sym typeface="Wingdings" panose="05000000000000000000" pitchFamily="2" charset="2"/>
              </a:rPr>
              <a:t>:</a:t>
            </a:r>
            <a:r>
              <a:rPr lang="tr-TR" sz="1400" b="1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positive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and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negative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data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points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count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are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the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same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.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Moreover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,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no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evident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pattern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in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the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residuals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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seems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OK!</a:t>
            </a:r>
          </a:p>
          <a:p>
            <a:pPr marL="171450" indent="-1714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tr-TR" sz="1400" b="1" u="sng" dirty="0" err="1">
                <a:latin typeface="IBM Plex Mono" panose="020B0509050203000203" pitchFamily="49" charset="0"/>
                <a:sym typeface="Wingdings" panose="05000000000000000000" pitchFamily="2" charset="2"/>
              </a:rPr>
              <a:t>Independence</a:t>
            </a:r>
            <a:r>
              <a:rPr lang="tr-TR" sz="1400" b="1" u="sng" dirty="0">
                <a:latin typeface="IBM Plex Mono" panose="020B0509050203000203" pitchFamily="49" charset="0"/>
                <a:sym typeface="Wingdings" panose="05000000000000000000" pitchFamily="2" charset="2"/>
              </a:rPr>
              <a:t>:</a:t>
            </a:r>
            <a:r>
              <a:rPr lang="tr-TR" sz="1400" b="1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no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orto-correlation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within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residuals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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seems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OK.</a:t>
            </a:r>
          </a:p>
          <a:p>
            <a:pPr marL="171450" indent="-1714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tr-TR" sz="1400" b="1" u="sng" dirty="0" err="1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Equal</a:t>
            </a:r>
            <a:r>
              <a:rPr lang="tr-TR" sz="1400" b="1" u="sng" dirty="0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b="1" u="sng" dirty="0" err="1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variance</a:t>
            </a:r>
            <a:r>
              <a:rPr lang="tr-TR" sz="1400" b="1" u="sng" dirty="0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:</a:t>
            </a:r>
            <a:r>
              <a:rPr lang="tr-TR" sz="1400" b="1" dirty="0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b="1" dirty="0" err="1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problematic</a:t>
            </a:r>
            <a:r>
              <a:rPr lang="tr-TR" sz="1400" b="1" dirty="0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!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slight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increase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in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variance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for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the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data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points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in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the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middle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. But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this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pattern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does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not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continue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towards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the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far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end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of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the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 x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range</a:t>
            </a:r>
            <a:r>
              <a:rPr lang="tr-TR" sz="1400" dirty="0">
                <a:latin typeface="IBM Plex Mono" panose="020B0509050203000203" pitchFamily="49" charset="0"/>
                <a:sym typeface="Wingdings" panose="05000000000000000000" pitchFamily="2" charset="2"/>
              </a:rPr>
              <a:t>: problem is </a:t>
            </a:r>
            <a:r>
              <a:rPr lang="tr-TR" sz="1400" dirty="0" err="1">
                <a:latin typeface="IBM Plex Mono" panose="020B0509050203000203" pitchFamily="49" charset="0"/>
                <a:sym typeface="Wingdings" panose="05000000000000000000" pitchFamily="2" charset="2"/>
              </a:rPr>
              <a:t>small</a:t>
            </a:r>
            <a:endParaRPr lang="tr-TR" sz="1400" dirty="0">
              <a:latin typeface="IBM Plex Mono" panose="020B0509050203000203" pitchFamily="49" charset="0"/>
              <a:sym typeface="Wingdings" panose="05000000000000000000" pitchFamily="2" charset="2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06C951-BAA6-4578-F074-2D107C77E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2505244"/>
            <a:ext cx="6217919" cy="386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54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9F3FF-ACA6-F754-CB3E-7109968D6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5876-22C0-6037-AA0B-DE32EECAD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VIA</a:t>
            </a:r>
            <a:r>
              <a:rPr lang="tr-TR" dirty="0"/>
              <a:t> PYTHON </a:t>
            </a:r>
            <a:r>
              <a:rPr lang="tr-TR" dirty="0" err="1"/>
              <a:t>SCIKIT-LEARN</a:t>
            </a:r>
            <a:r>
              <a:rPr lang="tr-TR" dirty="0"/>
              <a:t> </a:t>
            </a:r>
            <a:r>
              <a:rPr lang="tr-TR" dirty="0" err="1"/>
              <a:t>LIBRARY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53EA9-FE1B-3B1E-87AB-5045EF368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966" y="1914681"/>
            <a:ext cx="4992687" cy="576262"/>
          </a:xfrm>
        </p:spPr>
        <p:txBody>
          <a:bodyPr/>
          <a:lstStyle/>
          <a:p>
            <a:r>
              <a:rPr lang="tr-TR" dirty="0" err="1"/>
              <a:t>Residuals</a:t>
            </a:r>
            <a:r>
              <a:rPr lang="tr-TR" dirty="0"/>
              <a:t> – </a:t>
            </a:r>
            <a:r>
              <a:rPr lang="tr-TR" dirty="0" err="1"/>
              <a:t>Validation</a:t>
            </a:r>
            <a:r>
              <a:rPr lang="tr-TR" dirty="0"/>
              <a:t> - 2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6E116-5734-2058-9D71-4961C7488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15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4A5C6E4-7059-4D39-87A9-BC212E4C9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27695" y="1879600"/>
            <a:ext cx="4396339" cy="576262"/>
          </a:xfrm>
        </p:spPr>
        <p:txBody>
          <a:bodyPr/>
          <a:lstStyle/>
          <a:p>
            <a:r>
              <a:rPr lang="tr-TR" dirty="0" err="1"/>
              <a:t>Remarks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8C8153-456B-43D3-A522-2F9A8AEBC12E}"/>
              </a:ext>
            </a:extLst>
          </p:cNvPr>
          <p:cNvSpPr txBox="1"/>
          <p:nvPr/>
        </p:nvSpPr>
        <p:spPr>
          <a:xfrm>
            <a:off x="6776719" y="2523800"/>
            <a:ext cx="4856481" cy="1110306"/>
          </a:xfrm>
          <a:prstGeom prst="rect">
            <a:avLst/>
          </a:prstGeom>
          <a:noFill/>
        </p:spPr>
        <p:txBody>
          <a:bodyPr wrap="square" rtlCol="0">
            <a:normAutofit fontScale="70000" lnSpcReduction="20000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b="1" u="sng" dirty="0" err="1">
                <a:latin typeface="IBM Plex Mono" panose="020B0509050203000203" pitchFamily="49" charset="0"/>
                <a:sym typeface="Wingdings" panose="05000000000000000000" pitchFamily="2" charset="2"/>
              </a:rPr>
              <a:t>Normality</a:t>
            </a:r>
            <a:r>
              <a:rPr lang="tr-TR" b="1" u="sng" dirty="0">
                <a:latin typeface="IBM Plex Mono" panose="020B0509050203000203" pitchFamily="49" charset="0"/>
                <a:sym typeface="Wingdings" panose="05000000000000000000" pitchFamily="2" charset="2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Skewness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: 2.75e-5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Kurtosis: -0.33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Highly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small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values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. OK!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D5BA01-E0E5-AA94-7A36-B5AF5C1CB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986" y="3783324"/>
            <a:ext cx="4691728" cy="27573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D04CF0-5252-D7FD-F38C-AFAAC0427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1" y="2523800"/>
            <a:ext cx="6130608" cy="401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397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93B9C-3BFD-5881-6549-606F835F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89BED-77FC-0B9E-71CD-2029DCD1F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VIA</a:t>
            </a:r>
            <a:r>
              <a:rPr lang="tr-TR" dirty="0"/>
              <a:t> PYTHON </a:t>
            </a:r>
            <a:r>
              <a:rPr lang="tr-TR" dirty="0" err="1"/>
              <a:t>SCIKIT-LEARN</a:t>
            </a:r>
            <a:r>
              <a:rPr lang="tr-TR" dirty="0"/>
              <a:t> </a:t>
            </a:r>
            <a:r>
              <a:rPr lang="tr-TR" dirty="0" err="1"/>
              <a:t>LIBRARY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CEB32-3844-1CF9-7FCE-881C40305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966" y="1863408"/>
            <a:ext cx="4992687" cy="576262"/>
          </a:xfrm>
        </p:spPr>
        <p:txBody>
          <a:bodyPr/>
          <a:lstStyle/>
          <a:p>
            <a:r>
              <a:rPr lang="tr-TR" dirty="0" err="1"/>
              <a:t>Residuals</a:t>
            </a:r>
            <a:r>
              <a:rPr lang="tr-TR" dirty="0"/>
              <a:t> – </a:t>
            </a:r>
            <a:r>
              <a:rPr lang="tr-TR" dirty="0" err="1"/>
              <a:t>Validation</a:t>
            </a:r>
            <a:r>
              <a:rPr lang="tr-TR" dirty="0"/>
              <a:t> - 3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A9ABA-74EF-3976-2A87-D77F40614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16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54D9FA5-DCD2-4FF9-493A-9EFBF19CFC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27695" y="1879600"/>
            <a:ext cx="4396339" cy="576262"/>
          </a:xfrm>
        </p:spPr>
        <p:txBody>
          <a:bodyPr/>
          <a:lstStyle/>
          <a:p>
            <a:r>
              <a:rPr lang="tr-TR" dirty="0" err="1"/>
              <a:t>Remarks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BDA2FD-6703-8401-87EA-3A2FA593FD8B}"/>
              </a:ext>
            </a:extLst>
          </p:cNvPr>
          <p:cNvSpPr txBox="1"/>
          <p:nvPr/>
        </p:nvSpPr>
        <p:spPr>
          <a:xfrm>
            <a:off x="6776719" y="2523800"/>
            <a:ext cx="4856481" cy="2332680"/>
          </a:xfrm>
          <a:prstGeom prst="rect">
            <a:avLst/>
          </a:prstGeom>
          <a:noFill/>
        </p:spPr>
        <p:txBody>
          <a:bodyPr wrap="square" rtlCol="0">
            <a:normAutofit fontScale="85000" lnSpcReduction="10000"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b="1" u="sng" dirty="0" err="1">
                <a:latin typeface="IBM Plex Mono" panose="020B0509050203000203" pitchFamily="49" charset="0"/>
                <a:sym typeface="Wingdings" panose="05000000000000000000" pitchFamily="2" charset="2"/>
              </a:rPr>
              <a:t>Linearity</a:t>
            </a:r>
            <a:r>
              <a:rPr lang="tr-TR" b="1" u="sng" dirty="0">
                <a:latin typeface="IBM Plex Mono" panose="020B0509050203000203" pitchFamily="49" charset="0"/>
                <a:sym typeface="Wingdings" panose="05000000000000000000" pitchFamily="2" charset="2"/>
              </a:rPr>
              <a:t>: 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OK!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Y_pred^2 p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value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: 0.6156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Square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 of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target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prediction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values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 (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training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)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does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 not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pose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 a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significant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relation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towards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residuals</a:t>
            </a:r>
            <a:endParaRPr lang="tr-TR" dirty="0">
              <a:latin typeface="IBM Plex Mono" panose="020B0509050203000203" pitchFamily="49" charset="0"/>
              <a:sym typeface="Wingdings" panose="05000000000000000000" pitchFamily="2" charset="2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F3713C2-E9A4-D3A8-8D5C-878D77DD4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0" y="2523800"/>
            <a:ext cx="5785169" cy="388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513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B1B8B-DAED-8E9E-018D-831B8712B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27060-778F-A03D-6F0C-C85FA9704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VIA</a:t>
            </a:r>
            <a:r>
              <a:rPr lang="tr-TR" dirty="0"/>
              <a:t> PYTHON </a:t>
            </a:r>
            <a:r>
              <a:rPr lang="tr-TR" dirty="0" err="1"/>
              <a:t>SCIKIT-LEARN</a:t>
            </a:r>
            <a:r>
              <a:rPr lang="tr-TR" dirty="0"/>
              <a:t> </a:t>
            </a:r>
            <a:r>
              <a:rPr lang="tr-TR" dirty="0" err="1"/>
              <a:t>LIBRARY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3E945-A2B1-DF0A-C24D-043115A3B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966" y="1879600"/>
            <a:ext cx="4992687" cy="576262"/>
          </a:xfrm>
        </p:spPr>
        <p:txBody>
          <a:bodyPr/>
          <a:lstStyle/>
          <a:p>
            <a:r>
              <a:rPr lang="tr-TR" dirty="0" err="1"/>
              <a:t>Residuals</a:t>
            </a:r>
            <a:r>
              <a:rPr lang="tr-TR" dirty="0"/>
              <a:t> – </a:t>
            </a:r>
            <a:r>
              <a:rPr lang="tr-TR" dirty="0" err="1"/>
              <a:t>Validation</a:t>
            </a:r>
            <a:r>
              <a:rPr lang="tr-TR" dirty="0"/>
              <a:t> - 4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094BD-B208-7B1B-D818-13D16085F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17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C697FFA-3E56-1689-47D6-765B9586AF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27695" y="1879600"/>
            <a:ext cx="4396339" cy="576262"/>
          </a:xfrm>
        </p:spPr>
        <p:txBody>
          <a:bodyPr/>
          <a:lstStyle/>
          <a:p>
            <a:r>
              <a:rPr lang="tr-TR" dirty="0" err="1"/>
              <a:t>Remarks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E4FF20-2521-6A59-4FFF-1D67FC148E95}"/>
              </a:ext>
            </a:extLst>
          </p:cNvPr>
          <p:cNvSpPr txBox="1"/>
          <p:nvPr/>
        </p:nvSpPr>
        <p:spPr>
          <a:xfrm>
            <a:off x="6776719" y="2523800"/>
            <a:ext cx="5120641" cy="233268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b="1" u="sng" dirty="0" err="1">
                <a:latin typeface="IBM Plex Mono" panose="020B0509050203000203" pitchFamily="49" charset="0"/>
                <a:sym typeface="Wingdings" panose="05000000000000000000" pitchFamily="2" charset="2"/>
              </a:rPr>
              <a:t>Independence</a:t>
            </a:r>
            <a:r>
              <a:rPr lang="tr-TR" b="1" u="sng" dirty="0">
                <a:latin typeface="IBM Plex Mono" panose="020B0509050203000203" pitchFamily="49" charset="0"/>
                <a:sym typeface="Wingdings" panose="05000000000000000000" pitchFamily="2" charset="2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OK!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Durbin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 Watson p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value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: 0.0756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NO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orto-correlation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A0CA83-C449-AF1F-701D-26B08E1F4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2493320"/>
            <a:ext cx="5633511" cy="412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899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A82F0-9C32-CC87-34A0-03507FDB9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A6C0D-064B-A8C1-DD61-8EB9F2E45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VIA</a:t>
            </a:r>
            <a:r>
              <a:rPr lang="tr-TR" dirty="0"/>
              <a:t> PYTHON </a:t>
            </a:r>
            <a:r>
              <a:rPr lang="tr-TR" dirty="0" err="1"/>
              <a:t>SCIKIT-LEARN</a:t>
            </a:r>
            <a:r>
              <a:rPr lang="tr-TR" dirty="0"/>
              <a:t> </a:t>
            </a:r>
            <a:r>
              <a:rPr lang="tr-TR" dirty="0" err="1"/>
              <a:t>LIBRARY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C12DA-A127-FF12-1787-C35FF672A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8832" y="1867536"/>
            <a:ext cx="4992687" cy="576262"/>
          </a:xfrm>
        </p:spPr>
        <p:txBody>
          <a:bodyPr/>
          <a:lstStyle/>
          <a:p>
            <a:r>
              <a:rPr lang="tr-TR" dirty="0" err="1"/>
              <a:t>Residuals</a:t>
            </a:r>
            <a:r>
              <a:rPr lang="tr-TR" dirty="0"/>
              <a:t> – </a:t>
            </a:r>
            <a:r>
              <a:rPr lang="tr-TR" dirty="0" err="1"/>
              <a:t>Validation</a:t>
            </a:r>
            <a:r>
              <a:rPr lang="tr-TR" dirty="0"/>
              <a:t> - 5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74760-D7E4-9E8D-F4D0-0B5CAE191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18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87A8BC-C332-9263-3E13-B94F3F022E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27695" y="1879600"/>
            <a:ext cx="4396339" cy="576262"/>
          </a:xfrm>
        </p:spPr>
        <p:txBody>
          <a:bodyPr/>
          <a:lstStyle/>
          <a:p>
            <a:r>
              <a:rPr lang="tr-TR" dirty="0" err="1"/>
              <a:t>Remarks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BD764B-7293-4A1B-2DFE-56AADC332E8F}"/>
              </a:ext>
            </a:extLst>
          </p:cNvPr>
          <p:cNvSpPr txBox="1"/>
          <p:nvPr/>
        </p:nvSpPr>
        <p:spPr>
          <a:xfrm>
            <a:off x="6776719" y="2523800"/>
            <a:ext cx="4856481" cy="27289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b="1" u="sng" dirty="0" err="1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Equal</a:t>
            </a:r>
            <a:r>
              <a:rPr lang="tr-TR" b="1" u="sng" dirty="0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b="1" u="sng" dirty="0" err="1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variance</a:t>
            </a:r>
            <a:r>
              <a:rPr lang="tr-TR" b="1" u="sng" dirty="0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NOT </a:t>
            </a:r>
            <a:r>
              <a:rPr lang="tr-TR" dirty="0" err="1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SUPERB</a:t>
            </a:r>
            <a:r>
              <a:rPr lang="tr-TR" dirty="0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!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BP p </a:t>
            </a:r>
            <a:r>
              <a:rPr lang="tr-TR" dirty="0" err="1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value</a:t>
            </a:r>
            <a:r>
              <a:rPr lang="tr-TR" dirty="0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: 0.0311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 err="1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HETEROSCEDASTICITY</a:t>
            </a:r>
            <a:r>
              <a:rPr lang="tr-TR" dirty="0">
                <a:solidFill>
                  <a:srgbClr val="FF0000"/>
                </a:solidFill>
                <a:latin typeface="IBM Plex Mono" panose="020B0509050203000203" pitchFamily="49" charset="0"/>
                <a:sym typeface="Wingdings" panose="05000000000000000000" pitchFamily="2" charset="2"/>
              </a:rPr>
              <a:t>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P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value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 is not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that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small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. No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action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 </a:t>
            </a:r>
            <a:r>
              <a:rPr lang="tr-TR" dirty="0" err="1">
                <a:latin typeface="IBM Plex Mono" panose="020B0509050203000203" pitchFamily="49" charset="0"/>
                <a:sym typeface="Wingdings" panose="05000000000000000000" pitchFamily="2" charset="2"/>
              </a:rPr>
              <a:t>needed</a:t>
            </a:r>
            <a:r>
              <a:rPr lang="tr-TR" dirty="0">
                <a:latin typeface="IBM Plex Mono" panose="020B0509050203000203" pitchFamily="49" charset="0"/>
                <a:sym typeface="Wingdings" panose="05000000000000000000" pitchFamily="2" charset="2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A0EB6E-F345-EB31-EF64-90DC5935D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83" y="2541587"/>
            <a:ext cx="6036036" cy="373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646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BBBB6-9056-5166-3D89-4FACD8334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F8749-51E9-0DF6-5974-A4100ED35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VIA</a:t>
            </a:r>
            <a:r>
              <a:rPr lang="tr-TR" dirty="0"/>
              <a:t> PYTHON </a:t>
            </a:r>
            <a:r>
              <a:rPr lang="tr-TR" dirty="0" err="1"/>
              <a:t>SCIKIT-LEARN</a:t>
            </a:r>
            <a:r>
              <a:rPr lang="tr-TR" dirty="0"/>
              <a:t> </a:t>
            </a:r>
            <a:r>
              <a:rPr lang="tr-TR" dirty="0" err="1"/>
              <a:t>LIBRARY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4F9CD-0596-CF2D-C3BA-E6D1072FF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18C520-C1F0-C6DB-BDB7-73DDD78FDF8A}"/>
              </a:ext>
            </a:extLst>
          </p:cNvPr>
          <p:cNvSpPr txBox="1"/>
          <p:nvPr/>
        </p:nvSpPr>
        <p:spPr>
          <a:xfrm>
            <a:off x="646111" y="1924080"/>
            <a:ext cx="2406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dirty="0">
                <a:latin typeface="IBM Plex Mono" panose="020B0509050203000203" pitchFamily="49" charset="0"/>
              </a:rPr>
              <a:t>TEST DATA</a:t>
            </a:r>
            <a:endParaRPr lang="en-US" sz="3200" dirty="0">
              <a:latin typeface="IBM Plex Mono" panose="020B0509050203000203" pitchFamily="49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57F6D20-7ABA-C6D4-D474-90E0160EF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948414"/>
              </p:ext>
            </p:extLst>
          </p:nvPr>
        </p:nvGraphicFramePr>
        <p:xfrm>
          <a:off x="646111" y="2534920"/>
          <a:ext cx="10922422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0173">
                  <a:extLst>
                    <a:ext uri="{9D8B030D-6E8A-4147-A177-3AD203B41FA5}">
                      <a16:colId xmlns:a16="http://schemas.microsoft.com/office/drawing/2014/main" val="2481862032"/>
                    </a:ext>
                  </a:extLst>
                </a:gridCol>
                <a:gridCol w="780173">
                  <a:extLst>
                    <a:ext uri="{9D8B030D-6E8A-4147-A177-3AD203B41FA5}">
                      <a16:colId xmlns:a16="http://schemas.microsoft.com/office/drawing/2014/main" val="2309792963"/>
                    </a:ext>
                  </a:extLst>
                </a:gridCol>
                <a:gridCol w="780173">
                  <a:extLst>
                    <a:ext uri="{9D8B030D-6E8A-4147-A177-3AD203B41FA5}">
                      <a16:colId xmlns:a16="http://schemas.microsoft.com/office/drawing/2014/main" val="3630023467"/>
                    </a:ext>
                  </a:extLst>
                </a:gridCol>
                <a:gridCol w="780173">
                  <a:extLst>
                    <a:ext uri="{9D8B030D-6E8A-4147-A177-3AD203B41FA5}">
                      <a16:colId xmlns:a16="http://schemas.microsoft.com/office/drawing/2014/main" val="1056735173"/>
                    </a:ext>
                  </a:extLst>
                </a:gridCol>
                <a:gridCol w="780173">
                  <a:extLst>
                    <a:ext uri="{9D8B030D-6E8A-4147-A177-3AD203B41FA5}">
                      <a16:colId xmlns:a16="http://schemas.microsoft.com/office/drawing/2014/main" val="2496378695"/>
                    </a:ext>
                  </a:extLst>
                </a:gridCol>
                <a:gridCol w="780173">
                  <a:extLst>
                    <a:ext uri="{9D8B030D-6E8A-4147-A177-3AD203B41FA5}">
                      <a16:colId xmlns:a16="http://schemas.microsoft.com/office/drawing/2014/main" val="2236747505"/>
                    </a:ext>
                  </a:extLst>
                </a:gridCol>
                <a:gridCol w="780173">
                  <a:extLst>
                    <a:ext uri="{9D8B030D-6E8A-4147-A177-3AD203B41FA5}">
                      <a16:colId xmlns:a16="http://schemas.microsoft.com/office/drawing/2014/main" val="3325344639"/>
                    </a:ext>
                  </a:extLst>
                </a:gridCol>
                <a:gridCol w="780173">
                  <a:extLst>
                    <a:ext uri="{9D8B030D-6E8A-4147-A177-3AD203B41FA5}">
                      <a16:colId xmlns:a16="http://schemas.microsoft.com/office/drawing/2014/main" val="3939381430"/>
                    </a:ext>
                  </a:extLst>
                </a:gridCol>
                <a:gridCol w="780173">
                  <a:extLst>
                    <a:ext uri="{9D8B030D-6E8A-4147-A177-3AD203B41FA5}">
                      <a16:colId xmlns:a16="http://schemas.microsoft.com/office/drawing/2014/main" val="4018249994"/>
                    </a:ext>
                  </a:extLst>
                </a:gridCol>
                <a:gridCol w="780173">
                  <a:extLst>
                    <a:ext uri="{9D8B030D-6E8A-4147-A177-3AD203B41FA5}">
                      <a16:colId xmlns:a16="http://schemas.microsoft.com/office/drawing/2014/main" val="3934465740"/>
                    </a:ext>
                  </a:extLst>
                </a:gridCol>
                <a:gridCol w="780173">
                  <a:extLst>
                    <a:ext uri="{9D8B030D-6E8A-4147-A177-3AD203B41FA5}">
                      <a16:colId xmlns:a16="http://schemas.microsoft.com/office/drawing/2014/main" val="2781470024"/>
                    </a:ext>
                  </a:extLst>
                </a:gridCol>
                <a:gridCol w="780173">
                  <a:extLst>
                    <a:ext uri="{9D8B030D-6E8A-4147-A177-3AD203B41FA5}">
                      <a16:colId xmlns:a16="http://schemas.microsoft.com/office/drawing/2014/main" val="2409079286"/>
                    </a:ext>
                  </a:extLst>
                </a:gridCol>
                <a:gridCol w="780173">
                  <a:extLst>
                    <a:ext uri="{9D8B030D-6E8A-4147-A177-3AD203B41FA5}">
                      <a16:colId xmlns:a16="http://schemas.microsoft.com/office/drawing/2014/main" val="1357375500"/>
                    </a:ext>
                  </a:extLst>
                </a:gridCol>
                <a:gridCol w="780173">
                  <a:extLst>
                    <a:ext uri="{9D8B030D-6E8A-4147-A177-3AD203B41FA5}">
                      <a16:colId xmlns:a16="http://schemas.microsoft.com/office/drawing/2014/main" val="424446130"/>
                    </a:ext>
                  </a:extLst>
                </a:gridCol>
              </a:tblGrid>
              <a:tr h="6019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month year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10-Piece Set sold units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Time in month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10-Piece Set sale price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Feb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Mar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Apr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May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Jun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Jul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Aug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Oct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Nov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Dec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753483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Jan-13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1069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25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$799.95 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23936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Feb-13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1536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26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$799.95 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681066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Mar-13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1490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27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$799.95 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IBM Plex Mono" panose="020B0509050203000203" pitchFamily="49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88932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EDB91F3-4989-5EFE-177E-9E1DFAFE6832}"/>
              </a:ext>
            </a:extLst>
          </p:cNvPr>
          <p:cNvSpPr txBox="1"/>
          <p:nvPr/>
        </p:nvSpPr>
        <p:spPr>
          <a:xfrm>
            <a:off x="6209311" y="4028440"/>
            <a:ext cx="5368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dirty="0">
                <a:latin typeface="IBM Plex Mono" panose="020B0509050203000203" pitchFamily="49" charset="0"/>
              </a:rPr>
              <a:t>TEST DATA </a:t>
            </a:r>
            <a:r>
              <a:rPr lang="tr-TR" sz="3200" dirty="0" err="1">
                <a:latin typeface="IBM Plex Mono" panose="020B0509050203000203" pitchFamily="49" charset="0"/>
              </a:rPr>
              <a:t>PREDICTIONS</a:t>
            </a:r>
            <a:endParaRPr lang="en-US" sz="3200" dirty="0">
              <a:latin typeface="IBM Plex Mono" panose="020B0509050203000203" pitchFamily="49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B6860D6-13E8-E647-35AC-8213D7ED6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591377"/>
              </p:ext>
            </p:extLst>
          </p:nvPr>
        </p:nvGraphicFramePr>
        <p:xfrm>
          <a:off x="10143192" y="4613215"/>
          <a:ext cx="1434896" cy="883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4896">
                  <a:extLst>
                    <a:ext uri="{9D8B030D-6E8A-4147-A177-3AD203B41FA5}">
                      <a16:colId xmlns:a16="http://schemas.microsoft.com/office/drawing/2014/main" val="1374379954"/>
                    </a:ext>
                  </a:extLst>
                </a:gridCol>
              </a:tblGrid>
              <a:tr h="2944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tr-TR" sz="1400" u="none" strike="noStrike" dirty="0">
                          <a:solidFill>
                            <a:srgbClr val="FF0000"/>
                          </a:solidFill>
                          <a:effectLst/>
                          <a:latin typeface="IBM Plex Mono" panose="020B0509050203000203" pitchFamily="49" charset="0"/>
                        </a:rPr>
                        <a:t>1297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780126"/>
                  </a:ext>
                </a:extLst>
              </a:tr>
              <a:tr h="2944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tr-TR" sz="1400" u="none" strike="noStrike" dirty="0">
                          <a:solidFill>
                            <a:srgbClr val="FF0000"/>
                          </a:solidFill>
                          <a:effectLst/>
                          <a:latin typeface="IBM Plex Mono" panose="020B0509050203000203" pitchFamily="49" charset="0"/>
                        </a:rPr>
                        <a:t>1451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509136"/>
                  </a:ext>
                </a:extLst>
              </a:tr>
              <a:tr h="2944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FF0000"/>
                          </a:solidFill>
                          <a:effectLst/>
                          <a:latin typeface="IBM Plex Mono" panose="020B0509050203000203" pitchFamily="49" charset="0"/>
                        </a:rPr>
                        <a:t>14</a:t>
                      </a:r>
                      <a:r>
                        <a:rPr lang="tr-TR" sz="1400" u="none" strike="noStrike" dirty="0">
                          <a:solidFill>
                            <a:srgbClr val="FF0000"/>
                          </a:solidFill>
                          <a:effectLst/>
                          <a:latin typeface="IBM Plex Mono" panose="020B0509050203000203" pitchFamily="49" charset="0"/>
                        </a:rPr>
                        <a:t>65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IBM Plex Mono" panose="020B0509050203000203" pitchFamily="49" charset="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96707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B7DDFF4-9928-0B8F-6265-227B55DF9017}"/>
              </a:ext>
            </a:extLst>
          </p:cNvPr>
          <p:cNvSpPr txBox="1"/>
          <p:nvPr/>
        </p:nvSpPr>
        <p:spPr>
          <a:xfrm>
            <a:off x="613912" y="5297488"/>
            <a:ext cx="19127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200" dirty="0" err="1">
                <a:latin typeface="IBM Plex Mono" panose="020B0509050203000203" pitchFamily="49" charset="0"/>
              </a:rPr>
              <a:t>METRICS</a:t>
            </a:r>
            <a:endParaRPr lang="en-US" sz="3200" dirty="0">
              <a:latin typeface="IBM Plex Mono" panose="020B0509050203000203" pitchFamily="49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9693D67-9380-3FF3-196F-B0C2720D9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6231"/>
              </p:ext>
            </p:extLst>
          </p:nvPr>
        </p:nvGraphicFramePr>
        <p:xfrm>
          <a:off x="613912" y="5901631"/>
          <a:ext cx="1117168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5844">
                  <a:extLst>
                    <a:ext uri="{9D8B030D-6E8A-4147-A177-3AD203B41FA5}">
                      <a16:colId xmlns:a16="http://schemas.microsoft.com/office/drawing/2014/main" val="2633624924"/>
                    </a:ext>
                  </a:extLst>
                </a:gridCol>
                <a:gridCol w="5585844">
                  <a:extLst>
                    <a:ext uri="{9D8B030D-6E8A-4147-A177-3AD203B41FA5}">
                      <a16:colId xmlns:a16="http://schemas.microsoft.com/office/drawing/2014/main" val="17522485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tr-TR" dirty="0" err="1">
                          <a:latin typeface="IBM Plex Mono" panose="020B0509050203000203" pitchFamily="49" charset="0"/>
                        </a:rPr>
                        <a:t>Mean</a:t>
                      </a:r>
                      <a:r>
                        <a:rPr lang="tr-TR" dirty="0">
                          <a:latin typeface="IBM Plex Mono" panose="020B0509050203000203" pitchFamily="49" charset="0"/>
                        </a:rPr>
                        <a:t> </a:t>
                      </a:r>
                      <a:r>
                        <a:rPr lang="tr-TR" dirty="0" err="1">
                          <a:latin typeface="IBM Plex Mono" panose="020B0509050203000203" pitchFamily="49" charset="0"/>
                        </a:rPr>
                        <a:t>Absolute</a:t>
                      </a:r>
                      <a:r>
                        <a:rPr lang="tr-TR" dirty="0">
                          <a:latin typeface="IBM Plex Mono" panose="020B0509050203000203" pitchFamily="49" charset="0"/>
                        </a:rPr>
                        <a:t> </a:t>
                      </a:r>
                      <a:r>
                        <a:rPr lang="tr-TR" dirty="0" err="1">
                          <a:latin typeface="IBM Plex Mono" panose="020B0509050203000203" pitchFamily="49" charset="0"/>
                        </a:rPr>
                        <a:t>Error</a:t>
                      </a:r>
                      <a:endParaRPr lang="en-US" dirty="0">
                        <a:latin typeface="IBM Plex Mono" panose="020B0509050203000203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dirty="0" err="1">
                          <a:latin typeface="IBM Plex Mono" panose="020B0509050203000203" pitchFamily="49" charset="0"/>
                        </a:rPr>
                        <a:t>Weighted</a:t>
                      </a:r>
                      <a:r>
                        <a:rPr lang="tr-TR" dirty="0">
                          <a:latin typeface="IBM Plex Mono" panose="020B0509050203000203" pitchFamily="49" charset="0"/>
                        </a:rPr>
                        <a:t> </a:t>
                      </a:r>
                      <a:r>
                        <a:rPr lang="tr-TR" dirty="0" err="1">
                          <a:latin typeface="IBM Plex Mono" panose="020B0509050203000203" pitchFamily="49" charset="0"/>
                        </a:rPr>
                        <a:t>Mean</a:t>
                      </a:r>
                      <a:r>
                        <a:rPr lang="tr-TR" dirty="0">
                          <a:latin typeface="IBM Plex Mono" panose="020B0509050203000203" pitchFamily="49" charset="0"/>
                        </a:rPr>
                        <a:t> </a:t>
                      </a:r>
                      <a:r>
                        <a:rPr lang="tr-TR" dirty="0" err="1">
                          <a:latin typeface="IBM Plex Mono" panose="020B0509050203000203" pitchFamily="49" charset="0"/>
                        </a:rPr>
                        <a:t>Absolute</a:t>
                      </a:r>
                      <a:r>
                        <a:rPr lang="tr-TR" dirty="0">
                          <a:latin typeface="IBM Plex Mono" panose="020B0509050203000203" pitchFamily="49" charset="0"/>
                        </a:rPr>
                        <a:t> </a:t>
                      </a:r>
                      <a:r>
                        <a:rPr lang="tr-TR" dirty="0" err="1">
                          <a:latin typeface="IBM Plex Mono" panose="020B0509050203000203" pitchFamily="49" charset="0"/>
                        </a:rPr>
                        <a:t>Percentage</a:t>
                      </a:r>
                      <a:r>
                        <a:rPr lang="tr-TR" dirty="0">
                          <a:latin typeface="IBM Plex Mono" panose="020B0509050203000203" pitchFamily="49" charset="0"/>
                        </a:rPr>
                        <a:t> </a:t>
                      </a:r>
                      <a:r>
                        <a:rPr lang="tr-TR" dirty="0" err="1">
                          <a:latin typeface="IBM Plex Mono" panose="020B0509050203000203" pitchFamily="49" charset="0"/>
                        </a:rPr>
                        <a:t>Error</a:t>
                      </a:r>
                      <a:endParaRPr lang="en-US" dirty="0">
                        <a:latin typeface="IBM Plex Mono" panose="020B0509050203000203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0914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tr-TR" dirty="0">
                          <a:latin typeface="IBM Plex Mono" panose="020B0509050203000203" pitchFamily="49" charset="0"/>
                        </a:rPr>
                        <a:t>112.87</a:t>
                      </a:r>
                      <a:endParaRPr lang="en-US" dirty="0">
                        <a:latin typeface="IBM Plex Mono" panose="020B0509050203000203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tr-TR" dirty="0">
                          <a:latin typeface="IBM Plex Mono" panose="020B0509050203000203" pitchFamily="49" charset="0"/>
                        </a:rPr>
                        <a:t>8.26%</a:t>
                      </a:r>
                      <a:endParaRPr lang="en-US" dirty="0">
                        <a:latin typeface="IBM Plex Mono" panose="020B0509050203000203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1180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3571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64139-C713-BEC6-45C0-41C5D4ED4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6B859-649C-CF3B-83E2-B34085B7C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COMPARISON</a:t>
            </a:r>
            <a:r>
              <a:rPr lang="tr-TR" dirty="0"/>
              <a:t> </a:t>
            </a:r>
            <a:r>
              <a:rPr lang="tr-TR" dirty="0" err="1"/>
              <a:t>SUMMARY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B06CA-25E1-EFC8-3F0B-5AD3A421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20</a:t>
            </a:fld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2A69EE5-368D-B3F8-A071-6CFCD873C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60884"/>
              </p:ext>
            </p:extLst>
          </p:nvPr>
        </p:nvGraphicFramePr>
        <p:xfrm>
          <a:off x="454659" y="1408856"/>
          <a:ext cx="11202989" cy="46612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239756">
                  <a:extLst>
                    <a:ext uri="{9D8B030D-6E8A-4147-A177-3AD203B41FA5}">
                      <a16:colId xmlns:a16="http://schemas.microsoft.com/office/drawing/2014/main" val="2743706907"/>
                    </a:ext>
                  </a:extLst>
                </a:gridCol>
                <a:gridCol w="2764963">
                  <a:extLst>
                    <a:ext uri="{9D8B030D-6E8A-4147-A177-3AD203B41FA5}">
                      <a16:colId xmlns:a16="http://schemas.microsoft.com/office/drawing/2014/main" val="2159326405"/>
                    </a:ext>
                  </a:extLst>
                </a:gridCol>
                <a:gridCol w="1605913">
                  <a:extLst>
                    <a:ext uri="{9D8B030D-6E8A-4147-A177-3AD203B41FA5}">
                      <a16:colId xmlns:a16="http://schemas.microsoft.com/office/drawing/2014/main" val="436140952"/>
                    </a:ext>
                  </a:extLst>
                </a:gridCol>
                <a:gridCol w="2457745">
                  <a:extLst>
                    <a:ext uri="{9D8B030D-6E8A-4147-A177-3AD203B41FA5}">
                      <a16:colId xmlns:a16="http://schemas.microsoft.com/office/drawing/2014/main" val="1975019788"/>
                    </a:ext>
                  </a:extLst>
                </a:gridCol>
                <a:gridCol w="1134612">
                  <a:extLst>
                    <a:ext uri="{9D8B030D-6E8A-4147-A177-3AD203B41FA5}">
                      <a16:colId xmlns:a16="http://schemas.microsoft.com/office/drawing/2014/main" val="3034274101"/>
                    </a:ext>
                  </a:extLst>
                </a:gridCol>
              </a:tblGrid>
              <a:tr h="328504"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Metric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Metric-2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MS Excel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Python </a:t>
                      </a:r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Scikit</a:t>
                      </a:r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 </a:t>
                      </a:r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Learn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Winner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233270"/>
                  </a:ext>
                </a:extLst>
              </a:tr>
              <a:tr h="325176">
                <a:tc>
                  <a:txBody>
                    <a:bodyPr/>
                    <a:lstStyle/>
                    <a:p>
                      <a:pPr algn="l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Train R </a:t>
                      </a:r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Square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94.92%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95.02%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Python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84292"/>
                  </a:ext>
                </a:extLst>
              </a:tr>
              <a:tr h="325176">
                <a:tc>
                  <a:txBody>
                    <a:bodyPr/>
                    <a:lstStyle/>
                    <a:p>
                      <a:pPr algn="l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Test R </a:t>
                      </a:r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Square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42.93%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54.90%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Python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301767"/>
                  </a:ext>
                </a:extLst>
              </a:tr>
              <a:tr h="325176">
                <a:tc>
                  <a:txBody>
                    <a:bodyPr/>
                    <a:lstStyle/>
                    <a:p>
                      <a:pPr algn="l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MAE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121.31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112.87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Python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091895"/>
                  </a:ext>
                </a:extLst>
              </a:tr>
              <a:tr h="325176">
                <a:tc>
                  <a:txBody>
                    <a:bodyPr/>
                    <a:lstStyle/>
                    <a:p>
                      <a:pPr algn="l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WMAPE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8.89%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8.26%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Python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767324"/>
                  </a:ext>
                </a:extLst>
              </a:tr>
              <a:tr h="476335">
                <a:tc>
                  <a:txBody>
                    <a:bodyPr/>
                    <a:lstStyle/>
                    <a:p>
                      <a:pPr algn="l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Train </a:t>
                      </a:r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Residuals</a:t>
                      </a:r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 </a:t>
                      </a:r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mean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~0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~0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-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846671"/>
                  </a:ext>
                </a:extLst>
              </a:tr>
              <a:tr h="476335">
                <a:tc>
                  <a:txBody>
                    <a:bodyPr/>
                    <a:lstStyle/>
                    <a:p>
                      <a:pPr algn="l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Train </a:t>
                      </a:r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Residuals</a:t>
                      </a:r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 </a:t>
                      </a:r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Validation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Normality</a:t>
                      </a:r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 - </a:t>
                      </a:r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Skewness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0.25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2.75E-5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Python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656518"/>
                  </a:ext>
                </a:extLst>
              </a:tr>
              <a:tr h="476335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Normality</a:t>
                      </a:r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 - Kurtosis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- 0.29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- 0.32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Excel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513923"/>
                  </a:ext>
                </a:extLst>
              </a:tr>
              <a:tr h="325176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Linearity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Seems</a:t>
                      </a:r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 NOT OK!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0.6156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Python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593140"/>
                  </a:ext>
                </a:extLst>
              </a:tr>
              <a:tr h="476335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Independence</a:t>
                      </a:r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 - DB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0.06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0.0756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Python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509495"/>
                  </a:ext>
                </a:extLst>
              </a:tr>
              <a:tr h="325176"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Equal</a:t>
                      </a:r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 </a:t>
                      </a:r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Variance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Seems</a:t>
                      </a:r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 OK!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0.0311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-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106620"/>
                  </a:ext>
                </a:extLst>
              </a:tr>
              <a:tr h="476335">
                <a:tc>
                  <a:txBody>
                    <a:bodyPr/>
                    <a:lstStyle/>
                    <a:p>
                      <a:pPr algn="l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Test </a:t>
                      </a:r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Residuals</a:t>
                      </a:r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 </a:t>
                      </a:r>
                      <a:r>
                        <a:rPr lang="tr-TR" sz="1400" dirty="0" err="1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Mean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- 53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- 38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400" dirty="0">
                          <a:solidFill>
                            <a:schemeClr val="bg1"/>
                          </a:solidFill>
                          <a:latin typeface="IBM Plex Mono" panose="020B0509050203000203" pitchFamily="49" charset="0"/>
                        </a:rPr>
                        <a:t>Python</a:t>
                      </a:r>
                      <a:endParaRPr lang="en-US" sz="1400" dirty="0">
                        <a:solidFill>
                          <a:schemeClr val="bg1"/>
                        </a:solidFill>
                        <a:latin typeface="IBM Plex Mono" panose="020B0509050203000203" pitchFamily="49" charset="0"/>
                      </a:endParaRPr>
                    </a:p>
                  </a:txBody>
                  <a:tcPr anchor="ctr">
                    <a:solidFill>
                      <a:schemeClr val="tx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5083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0A4635B-6C49-6326-4E19-0AED86C19AC4}"/>
              </a:ext>
            </a:extLst>
          </p:cNvPr>
          <p:cNvSpPr txBox="1"/>
          <p:nvPr/>
        </p:nvSpPr>
        <p:spPr>
          <a:xfrm>
            <a:off x="342899" y="6160308"/>
            <a:ext cx="11428128" cy="7034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>
                <a:latin typeface="IBM Plex Mono" panose="020B0509050203000203" pitchFamily="49" charset="0"/>
              </a:rPr>
              <a:t>Test R </a:t>
            </a:r>
            <a:r>
              <a:rPr lang="tr-TR" sz="1400" dirty="0" err="1">
                <a:latin typeface="IBM Plex Mono" panose="020B0509050203000203" pitchFamily="49" charset="0"/>
              </a:rPr>
              <a:t>square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metrics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are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to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grow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with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more</a:t>
            </a:r>
            <a:r>
              <a:rPr lang="tr-TR" sz="1400" dirty="0">
                <a:latin typeface="IBM Plex Mono" panose="020B0509050203000203" pitchFamily="49" charset="0"/>
              </a:rPr>
              <a:t> data. Test size </a:t>
            </a:r>
            <a:r>
              <a:rPr lang="tr-TR" sz="1400" dirty="0" err="1">
                <a:latin typeface="IBM Plex Mono" panose="020B0509050203000203" pitchFamily="49" charset="0"/>
              </a:rPr>
              <a:t>was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ONLY</a:t>
            </a:r>
            <a:r>
              <a:rPr lang="tr-TR" sz="1400" dirty="0">
                <a:latin typeface="IBM Plex Mono" panose="020B0509050203000203" pitchFamily="49" charset="0"/>
              </a:rPr>
              <a:t> 3.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400" dirty="0" err="1">
                <a:latin typeface="IBM Plex Mono" panose="020B0509050203000203" pitchFamily="49" charset="0"/>
              </a:rPr>
              <a:t>With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the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additional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dummy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categoric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variable</a:t>
            </a:r>
            <a:r>
              <a:rPr lang="tr-TR" sz="1400" dirty="0">
                <a:latin typeface="IBM Plex Mono" panose="020B0509050203000203" pitchFamily="49" charset="0"/>
              </a:rPr>
              <a:t> in Python, Python </a:t>
            </a:r>
            <a:r>
              <a:rPr lang="tr-TR" sz="1400" dirty="0" err="1">
                <a:latin typeface="IBM Plex Mono" panose="020B0509050203000203" pitchFamily="49" charset="0"/>
              </a:rPr>
              <a:t>gained</a:t>
            </a:r>
            <a:r>
              <a:rPr lang="tr-TR" sz="1400" dirty="0">
                <a:latin typeface="IBM Plex Mono" panose="020B0509050203000203" pitchFamily="49" charset="0"/>
              </a:rPr>
              <a:t> a </a:t>
            </a:r>
            <a:r>
              <a:rPr lang="tr-TR" sz="1400" dirty="0" err="1">
                <a:latin typeface="IBM Plex Mono" panose="020B0509050203000203" pitchFamily="49" charset="0"/>
              </a:rPr>
              <a:t>slight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edge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over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excel</a:t>
            </a:r>
            <a:r>
              <a:rPr lang="tr-TR" sz="1400" dirty="0">
                <a:latin typeface="IBM Plex Mono" panose="020B0509050203000203" pitchFamily="49" charset="0"/>
              </a:rPr>
              <a:t> </a:t>
            </a:r>
            <a:r>
              <a:rPr lang="tr-TR" sz="1400" dirty="0" err="1">
                <a:latin typeface="IBM Plex Mono" panose="020B0509050203000203" pitchFamily="49" charset="0"/>
              </a:rPr>
              <a:t>results</a:t>
            </a:r>
            <a:endParaRPr lang="tr-TR" sz="1400" dirty="0">
              <a:latin typeface="IBM Plex Mono" panose="020B0509050203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6760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883</TotalTime>
  <Words>1603</Words>
  <Application>Microsoft Office PowerPoint</Application>
  <PresentationFormat>Widescreen</PresentationFormat>
  <Paragraphs>761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IBM Plex Mono</vt:lpstr>
      <vt:lpstr>Wingdings 3</vt:lpstr>
      <vt:lpstr>Ion</vt:lpstr>
      <vt:lpstr>DEMAND ANALYSIS</vt:lpstr>
      <vt:lpstr>ACTUAL DEMAND VALUES - TABLE</vt:lpstr>
      <vt:lpstr>VIA EXCEL ANALYSIS TOOLPAK REGRESSION</vt:lpstr>
      <vt:lpstr>VIA EXCEL ANALYSIS TOOLPAK REGRESSION</vt:lpstr>
      <vt:lpstr>VIA EXCEL ANALYSIS TOOLPAK REGRESSION</vt:lpstr>
      <vt:lpstr>VIA EXCEL ANALYSIS TOOLPAK REGRESSION</vt:lpstr>
      <vt:lpstr>VIA EXCEL ANALYSIS TOOLPAK REGRESSION</vt:lpstr>
      <vt:lpstr>VIA PYTHON, SCIKIT-LEARN AND STATSMODELS LIBRARIES</vt:lpstr>
      <vt:lpstr>VIA PYTHON SCIKIT-LEARN LIBRARY</vt:lpstr>
      <vt:lpstr>VIA PYTHON SCIKIT-LEARN LIBRARY</vt:lpstr>
      <vt:lpstr>VIA PYTHON SCIKIT-LEARN LIBRARY</vt:lpstr>
      <vt:lpstr>VIA PYTHON SCIKIT-LEARN LIBRARY</vt:lpstr>
      <vt:lpstr>VIA PYTHON SCIKIT-LEARN LIBRARY</vt:lpstr>
      <vt:lpstr>VIA PYTHON SCIKIT-LEARN LIBRARY</vt:lpstr>
      <vt:lpstr>VIA PYTHON SCIKIT-LEARN LIBRARY</vt:lpstr>
      <vt:lpstr>VIA PYTHON SCIKIT-LEARN LIBRARY</vt:lpstr>
      <vt:lpstr>VIA PYTHON SCIKIT-LEARN LIBRARY</vt:lpstr>
      <vt:lpstr>VIA PYTHON SCIKIT-LEARN LIBRARY</vt:lpstr>
      <vt:lpstr>VIA PYTHON SCIKIT-LEARN LIBRARY</vt:lpstr>
      <vt:lpstr>COMPARISON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Can</dc:creator>
  <cp:lastModifiedBy>Ali Can</cp:lastModifiedBy>
  <cp:revision>20</cp:revision>
  <dcterms:created xsi:type="dcterms:W3CDTF">2026-08-30T17:48:44Z</dcterms:created>
  <dcterms:modified xsi:type="dcterms:W3CDTF">2026-08-31T16:46:19Z</dcterms:modified>
</cp:coreProperties>
</file>